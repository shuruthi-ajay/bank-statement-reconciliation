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8288000" cy="10287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2130425"/>
            <a:ext cx="7772400" cy="1470025"/>
          </a:xfrm>
          <a:prstGeom prst="rect">
            <a:avLst/>
          </a:prstGeom>
        </p:spPr>
        <p:txBody>
          <a:bodyPr/>
          <a:lstStyle/>
          <a:p>
            <a:pPr/>
            <a:r>
              <a:t>Title Text</a:t>
            </a:r>
          </a:p>
        </p:txBody>
      </p:sp>
      <p:sp>
        <p:nvSpPr>
          <p:cNvPr id="12" name="Body Level One…"/>
          <p:cNvSpPr txBox="1"/>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xfrm>
            <a:off x="457200" y="274638"/>
            <a:ext cx="8229600" cy="1143001"/>
          </a:xfrm>
          <a:prstGeom prst="rect">
            <a:avLst/>
          </a:prstGeom>
        </p:spPr>
        <p:txBody>
          <a:bodyPr/>
          <a:lstStyle/>
          <a:p>
            <a:pPr/>
            <a:r>
              <a:t>Title Text</a:t>
            </a:r>
          </a:p>
        </p:txBody>
      </p:sp>
      <p:sp>
        <p:nvSpPr>
          <p:cNvPr id="21" name="Body Level One…"/>
          <p:cNvSpPr txBox="1"/>
          <p:nvPr>
            <p:ph type="body" sz="quarter" idx="1"/>
          </p:nvPr>
        </p:nvSpPr>
        <p:spPr>
          <a:xfrm>
            <a:off x="457200" y="1600200"/>
            <a:ext cx="8229600" cy="452596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722312" y="4406900"/>
            <a:ext cx="7772401" cy="1362075"/>
          </a:xfrm>
          <a:prstGeom prst="rect">
            <a:avLst/>
          </a:prstGeom>
        </p:spPr>
        <p:txBody>
          <a:bodyPr anchor="t"/>
          <a:lstStyle>
            <a:lvl1pPr algn="l">
              <a:defRPr b="1" cap="all" sz="4000"/>
            </a:lvl1pPr>
          </a:lstStyle>
          <a:p>
            <a:pPr/>
            <a:r>
              <a:t>Title Text</a:t>
            </a:r>
          </a:p>
        </p:txBody>
      </p:sp>
      <p:sp>
        <p:nvSpPr>
          <p:cNvPr id="30" name="Body Level One…"/>
          <p:cNvSpPr txBox="1"/>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xfrm>
            <a:off x="457200" y="274638"/>
            <a:ext cx="8229600" cy="1143001"/>
          </a:xfrm>
          <a:prstGeom prst="rect">
            <a:avLst/>
          </a:prstGeom>
        </p:spPr>
        <p:txBody>
          <a:bodyPr/>
          <a:lstStyle/>
          <a:p>
            <a:pPr/>
            <a:r>
              <a:t>Title Text</a:t>
            </a:r>
          </a:p>
        </p:txBody>
      </p:sp>
      <p:sp>
        <p:nvSpPr>
          <p:cNvPr id="39" name="Body Level One…"/>
          <p:cNvSpPr txBox="1"/>
          <p:nvPr>
            <p:ph type="body" sz="quarter"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xfrm>
            <a:off x="457200" y="274638"/>
            <a:ext cx="8229600" cy="1143001"/>
          </a:xfrm>
          <a:prstGeom prst="rect">
            <a:avLst/>
          </a:prstGeom>
        </p:spPr>
        <p:txBody>
          <a:bodyPr/>
          <a:lstStyle/>
          <a:p>
            <a:pPr/>
            <a:r>
              <a:t>Title Text</a:t>
            </a:r>
          </a:p>
        </p:txBody>
      </p:sp>
      <p:sp>
        <p:nvSpPr>
          <p:cNvPr id="48" name="Body Level One…"/>
          <p:cNvSpPr txBox="1"/>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457200">
              <a:spcBef>
                <a:spcPts val="500"/>
              </a:spcBef>
              <a:buSzTx/>
              <a:buFontTx/>
              <a:buNone/>
              <a:defRPr b="1" sz="2400"/>
            </a:lvl2pPr>
            <a:lvl3pPr marL="0" indent="914400">
              <a:spcBef>
                <a:spcPts val="500"/>
              </a:spcBef>
              <a:buSzTx/>
              <a:buFontTx/>
              <a:buNone/>
              <a:defRPr b="1" sz="2400"/>
            </a:lvl3pPr>
            <a:lvl4pPr marL="0" indent="1371600">
              <a:spcBef>
                <a:spcPts val="500"/>
              </a:spcBef>
              <a:buSzTx/>
              <a:buFontTx/>
              <a:buNone/>
              <a:defRPr b="1" sz="2400"/>
            </a:lvl4pPr>
            <a:lvl5pPr marL="0" indent="182880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xfrm>
            <a:off x="457200" y="274638"/>
            <a:ext cx="8229600" cy="1143001"/>
          </a:xfrm>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457200" y="273050"/>
            <a:ext cx="3008314" cy="1162050"/>
          </a:xfrm>
          <a:prstGeom prst="rect">
            <a:avLst/>
          </a:prstGeom>
        </p:spPr>
        <p:txBody>
          <a:bodyPr anchor="b"/>
          <a:lstStyle>
            <a:lvl1pPr algn="l">
              <a:defRPr b="1" sz="2000"/>
            </a:lvl1pPr>
          </a:lstStyle>
          <a:p>
            <a:pPr/>
            <a:r>
              <a:t>Title Text</a:t>
            </a:r>
          </a:p>
        </p:txBody>
      </p:sp>
      <p:sp>
        <p:nvSpPr>
          <p:cNvPr id="73" name="Body Level One…"/>
          <p:cNvSpPr txBox="1"/>
          <p:nvPr>
            <p:ph type="body" sz="quarter"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457199" y="1435100"/>
            <a:ext cx="3008315" cy="4691063"/>
          </a:xfrm>
          <a:prstGeom prst="rect">
            <a:avLst/>
          </a:prstGeom>
        </p:spPr>
        <p:txBody>
          <a:bodyPr/>
          <a:lstStyle/>
          <a:p>
            <a:pPr marL="0" indent="0">
              <a:spcBef>
                <a:spcPts val="300"/>
              </a:spcBef>
              <a:buSzTx/>
              <a:buFontTx/>
              <a:buNone/>
              <a:defRPr sz="14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1792288" y="4800600"/>
            <a:ext cx="5486401" cy="566738"/>
          </a:xfrm>
          <a:prstGeom prst="rect">
            <a:avLst/>
          </a:prstGeom>
        </p:spPr>
        <p:txBody>
          <a:bodyPr anchor="b"/>
          <a:lstStyle>
            <a:lvl1pPr algn="l">
              <a:defRPr b="1" sz="2000"/>
            </a:lvl1pPr>
          </a:lstStyle>
          <a:p>
            <a:pPr/>
            <a:r>
              <a:t>Title Text</a:t>
            </a:r>
          </a:p>
        </p:txBody>
      </p:sp>
      <p:sp>
        <p:nvSpPr>
          <p:cNvPr id="83" name="Picture Placeholder 2"/>
          <p:cNvSpPr/>
          <p:nvPr>
            <p:ph type="pic" sz="quarter" idx="21"/>
          </p:nvPr>
        </p:nvSpPr>
        <p:spPr>
          <a:xfrm>
            <a:off x="1792288" y="612775"/>
            <a:ext cx="5486401" cy="4114800"/>
          </a:xfrm>
          <a:prstGeom prst="rect">
            <a:avLst/>
          </a:prstGeom>
        </p:spPr>
        <p:txBody>
          <a:bodyPr lIns="91439" rIns="91439">
            <a:noAutofit/>
          </a:bodyPr>
          <a:lstStyle/>
          <a:p>
            <a:pPr/>
          </a:p>
        </p:txBody>
      </p:sp>
      <p:sp>
        <p:nvSpPr>
          <p:cNvPr id="84" name="Body Level One…"/>
          <p:cNvSpPr txBox="1"/>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914400" y="138112"/>
            <a:ext cx="16459200" cy="22621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914400" y="2400300"/>
            <a:ext cx="16459200" cy="7886700"/>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28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31416"/>
        </a:solidFill>
      </p:bgPr>
    </p:bg>
    <p:spTree>
      <p:nvGrpSpPr>
        <p:cNvPr id="1" name=""/>
        <p:cNvGrpSpPr/>
        <p:nvPr/>
      </p:nvGrpSpPr>
      <p:grpSpPr>
        <a:xfrm>
          <a:off x="0" y="0"/>
          <a:ext cx="0" cy="0"/>
          <a:chOff x="0" y="0"/>
          <a:chExt cx="0" cy="0"/>
        </a:xfrm>
      </p:grpSpPr>
      <p:sp>
        <p:nvSpPr>
          <p:cNvPr id="94" name="Freeform 2"/>
          <p:cNvSpPr/>
          <p:nvPr/>
        </p:nvSpPr>
        <p:spPr>
          <a:xfrm>
            <a:off x="-4748652" y="3234883"/>
            <a:ext cx="12625600" cy="12625600"/>
          </a:xfrm>
          <a:prstGeom prst="rect">
            <a:avLst/>
          </a:prstGeom>
          <a:blipFill>
            <a:blip r:embed="rId2"/>
            <a:stretch>
              <a:fillRect/>
            </a:stretch>
          </a:blipFill>
          <a:ln w="12700">
            <a:miter lim="400000"/>
          </a:ln>
        </p:spPr>
        <p:txBody>
          <a:bodyPr lIns="45719" rIns="45719"/>
          <a:lstStyle/>
          <a:p>
            <a:pPr/>
          </a:p>
        </p:txBody>
      </p:sp>
      <p:sp>
        <p:nvSpPr>
          <p:cNvPr id="95" name="Freeform 3"/>
          <p:cNvSpPr/>
          <p:nvPr/>
        </p:nvSpPr>
        <p:spPr>
          <a:xfrm>
            <a:off x="-4748652" y="3234883"/>
            <a:ext cx="12625600" cy="12625600"/>
          </a:xfrm>
          <a:prstGeom prst="rect">
            <a:avLst/>
          </a:prstGeom>
          <a:blipFill>
            <a:blip r:embed="rId2"/>
            <a:stretch>
              <a:fillRect/>
            </a:stretch>
          </a:blipFill>
          <a:ln w="12700">
            <a:miter lim="400000"/>
          </a:ln>
        </p:spPr>
        <p:txBody>
          <a:bodyPr lIns="45719" rIns="45719"/>
          <a:lstStyle/>
          <a:p>
            <a:pPr/>
          </a:p>
        </p:txBody>
      </p:sp>
      <p:sp>
        <p:nvSpPr>
          <p:cNvPr id="96" name="Freeform 4"/>
          <p:cNvSpPr/>
          <p:nvPr/>
        </p:nvSpPr>
        <p:spPr>
          <a:xfrm>
            <a:off x="11152271" y="-5807258"/>
            <a:ext cx="12625600" cy="12625600"/>
          </a:xfrm>
          <a:prstGeom prst="rect">
            <a:avLst/>
          </a:prstGeom>
          <a:blipFill>
            <a:blip r:embed="rId2"/>
            <a:stretch>
              <a:fillRect/>
            </a:stretch>
          </a:blipFill>
          <a:ln w="12700">
            <a:miter lim="400000"/>
          </a:ln>
        </p:spPr>
        <p:txBody>
          <a:bodyPr lIns="45719" rIns="45719"/>
          <a:lstStyle/>
          <a:p>
            <a:pPr/>
          </a:p>
        </p:txBody>
      </p:sp>
      <p:sp>
        <p:nvSpPr>
          <p:cNvPr id="97" name="Freeform 5"/>
          <p:cNvSpPr/>
          <p:nvPr/>
        </p:nvSpPr>
        <p:spPr>
          <a:xfrm>
            <a:off x="11152271" y="-5807258"/>
            <a:ext cx="12625600" cy="12625600"/>
          </a:xfrm>
          <a:prstGeom prst="rect">
            <a:avLst/>
          </a:prstGeom>
          <a:blipFill>
            <a:blip r:embed="rId2"/>
            <a:stretch>
              <a:fillRect/>
            </a:stretch>
          </a:blipFill>
          <a:ln w="12700">
            <a:miter lim="400000"/>
          </a:ln>
        </p:spPr>
        <p:txBody>
          <a:bodyPr lIns="45719" rIns="45719"/>
          <a:lstStyle/>
          <a:p>
            <a:pPr/>
          </a:p>
        </p:txBody>
      </p:sp>
      <p:sp>
        <p:nvSpPr>
          <p:cNvPr id="98" name="Freeform 7"/>
          <p:cNvSpPr/>
          <p:nvPr/>
        </p:nvSpPr>
        <p:spPr>
          <a:xfrm>
            <a:off x="-762861" y="7255463"/>
            <a:ext cx="4584442" cy="4584442"/>
          </a:xfrm>
          <a:prstGeom prst="ellipse">
            <a:avLst/>
          </a:prstGeom>
          <a:ln w="57150" cap="sq">
            <a:solidFill>
              <a:srgbClr val="478A7E"/>
            </a:solidFill>
            <a:miter/>
          </a:ln>
        </p:spPr>
        <p:txBody>
          <a:bodyPr lIns="45719" rIns="45719"/>
          <a:lstStyle/>
          <a:p>
            <a:pPr/>
          </a:p>
        </p:txBody>
      </p:sp>
      <p:sp>
        <p:nvSpPr>
          <p:cNvPr id="99" name="Freeform 10"/>
          <p:cNvSpPr/>
          <p:nvPr/>
        </p:nvSpPr>
        <p:spPr>
          <a:xfrm rot="2276502">
            <a:off x="15172850" y="-1786679"/>
            <a:ext cx="4584442" cy="4584442"/>
          </a:xfrm>
          <a:prstGeom prst="ellipse">
            <a:avLst/>
          </a:prstGeom>
          <a:ln w="57150" cap="sq">
            <a:solidFill>
              <a:srgbClr val="73C2E7"/>
            </a:solidFill>
            <a:miter/>
          </a:ln>
        </p:spPr>
        <p:txBody>
          <a:bodyPr lIns="45719" rIns="45719"/>
          <a:lstStyle/>
          <a:p>
            <a:pPr/>
          </a:p>
        </p:txBody>
      </p:sp>
      <p:sp>
        <p:nvSpPr>
          <p:cNvPr id="100" name="AutoShape 12"/>
          <p:cNvSpPr/>
          <p:nvPr/>
        </p:nvSpPr>
        <p:spPr>
          <a:xfrm>
            <a:off x="10607817" y="9548953"/>
            <a:ext cx="7479543" cy="1"/>
          </a:xfrm>
          <a:prstGeom prst="line">
            <a:avLst/>
          </a:prstGeom>
          <a:ln w="95250">
            <a:solidFill>
              <a:srgbClr val="F67BDC"/>
            </a:solidFill>
          </a:ln>
        </p:spPr>
        <p:txBody>
          <a:bodyPr lIns="45719" rIns="45719"/>
          <a:lstStyle/>
          <a:p>
            <a:pPr/>
          </a:p>
        </p:txBody>
      </p:sp>
      <p:sp>
        <p:nvSpPr>
          <p:cNvPr id="101" name="TextBox 13"/>
          <p:cNvSpPr txBox="1"/>
          <p:nvPr/>
        </p:nvSpPr>
        <p:spPr>
          <a:xfrm>
            <a:off x="1172056" y="2883958"/>
            <a:ext cx="15350133" cy="357759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9900"/>
              </a:lnSpc>
              <a:defRPr b="1" spc="-711" sz="11300">
                <a:solidFill>
                  <a:srgbClr val="FFFFFF"/>
                </a:solidFill>
                <a:latin typeface="Arial Unicode Bold"/>
                <a:ea typeface="Arial Unicode Bold"/>
                <a:cs typeface="Arial Unicode Bold"/>
                <a:sym typeface="Arial Unicode Bold"/>
              </a:defRPr>
            </a:lvl1pPr>
          </a:lstStyle>
          <a:p>
            <a:pPr/>
            <a:r>
              <a:t>RPA: Automated Bank Reconciliation System</a:t>
            </a:r>
          </a:p>
        </p:txBody>
      </p:sp>
      <p:sp>
        <p:nvSpPr>
          <p:cNvPr id="102" name="TextBox 14"/>
          <p:cNvSpPr txBox="1"/>
          <p:nvPr/>
        </p:nvSpPr>
        <p:spPr>
          <a:xfrm>
            <a:off x="10607817" y="7832760"/>
            <a:ext cx="7150074" cy="17945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just">
              <a:lnSpc>
                <a:spcPts val="3600"/>
              </a:lnSpc>
              <a:defRPr sz="3700">
                <a:solidFill>
                  <a:srgbClr val="FFFFFF"/>
                </a:solidFill>
                <a:latin typeface="Arial Unicode"/>
                <a:ea typeface="Arial Unicode"/>
                <a:cs typeface="Arial Unicode"/>
                <a:sym typeface="Arial Unicode"/>
              </a:defRPr>
            </a:pPr>
            <a:r>
              <a:t>Riddhika </a:t>
            </a:r>
          </a:p>
          <a:p>
            <a:pPr algn="just">
              <a:lnSpc>
                <a:spcPts val="3600"/>
              </a:lnSpc>
              <a:defRPr sz="3700">
                <a:solidFill>
                  <a:srgbClr val="FFFFFF"/>
                </a:solidFill>
                <a:latin typeface="Arial Unicode"/>
                <a:ea typeface="Arial Unicode"/>
                <a:cs typeface="Arial Unicode"/>
                <a:sym typeface="Arial Unicode"/>
              </a:defRPr>
            </a:pPr>
            <a:r>
              <a:t>Snegha Valli</a:t>
            </a:r>
          </a:p>
          <a:p>
            <a:pPr algn="just">
              <a:lnSpc>
                <a:spcPts val="3600"/>
              </a:lnSpc>
              <a:defRPr sz="3700">
                <a:solidFill>
                  <a:srgbClr val="FFFFFF"/>
                </a:solidFill>
                <a:latin typeface="Arial Unicode"/>
                <a:ea typeface="Arial Unicode"/>
                <a:cs typeface="Arial Unicode"/>
                <a:sym typeface="Arial Unicode"/>
              </a:defRPr>
            </a:pPr>
            <a:r>
              <a:t>Shuruthi Ajay</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31416"/>
        </a:solidFill>
      </p:bgPr>
    </p:bg>
    <p:spTree>
      <p:nvGrpSpPr>
        <p:cNvPr id="1" name=""/>
        <p:cNvGrpSpPr/>
        <p:nvPr/>
      </p:nvGrpSpPr>
      <p:grpSpPr>
        <a:xfrm>
          <a:off x="0" y="0"/>
          <a:ext cx="0" cy="0"/>
          <a:chOff x="0" y="0"/>
          <a:chExt cx="0" cy="0"/>
        </a:xfrm>
      </p:grpSpPr>
      <p:sp>
        <p:nvSpPr>
          <p:cNvPr id="104" name="Freeform 2"/>
          <p:cNvSpPr/>
          <p:nvPr/>
        </p:nvSpPr>
        <p:spPr>
          <a:xfrm rot="6994480">
            <a:off x="3933323" y="2140506"/>
            <a:ext cx="26421498" cy="7926450"/>
          </a:xfrm>
          <a:prstGeom prst="rect">
            <a:avLst/>
          </a:prstGeom>
          <a:blipFill>
            <a:blip r:embed="rId2"/>
            <a:stretch>
              <a:fillRect/>
            </a:stretch>
          </a:blipFill>
          <a:ln w="12700">
            <a:miter lim="400000"/>
          </a:ln>
        </p:spPr>
        <p:txBody>
          <a:bodyPr lIns="45719" rIns="45719"/>
          <a:lstStyle/>
          <a:p>
            <a:pPr/>
          </a:p>
        </p:txBody>
      </p:sp>
      <p:sp>
        <p:nvSpPr>
          <p:cNvPr id="105" name="TextBox 3"/>
          <p:cNvSpPr txBox="1"/>
          <p:nvPr/>
        </p:nvSpPr>
        <p:spPr>
          <a:xfrm>
            <a:off x="239495" y="476485"/>
            <a:ext cx="12939161" cy="12544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9300"/>
              </a:lnSpc>
              <a:defRPr b="1" spc="-668" sz="10600">
                <a:solidFill>
                  <a:srgbClr val="FFFFFF"/>
                </a:solidFill>
                <a:latin typeface="Arial Unicode Bold"/>
                <a:ea typeface="Arial Unicode Bold"/>
                <a:cs typeface="Arial Unicode Bold"/>
                <a:sym typeface="Arial Unicode Bold"/>
              </a:defRPr>
            </a:lvl1pPr>
          </a:lstStyle>
          <a:p>
            <a:pPr/>
            <a:r>
              <a:t>Problem statement:</a:t>
            </a:r>
          </a:p>
        </p:txBody>
      </p:sp>
      <p:sp>
        <p:nvSpPr>
          <p:cNvPr id="106" name="TextBox 4"/>
          <p:cNvSpPr txBox="1"/>
          <p:nvPr/>
        </p:nvSpPr>
        <p:spPr>
          <a:xfrm>
            <a:off x="1028700" y="2091308"/>
            <a:ext cx="12762694" cy="51600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ts val="4100"/>
              </a:lnSpc>
              <a:defRPr sz="4200">
                <a:solidFill>
                  <a:srgbClr val="FFFFFF"/>
                </a:solidFill>
                <a:latin typeface="Arial Unicode"/>
                <a:ea typeface="Arial Unicode"/>
                <a:cs typeface="Arial Unicode"/>
                <a:sym typeface="Arial Unicode"/>
              </a:defRPr>
            </a:lvl1pPr>
          </a:lstStyle>
          <a:p>
            <a:pPr/>
            <a:r>
              <a:t>Manual reconciliation of bank statements with internal departmental records is a time-consuming and error-prone process. Organizations often deal with multiple Excel files from different companies and departments, making it difficult to identify mismatches, missing entries, and incorrect transactions efficiently. There is a need for an automated solution that can accurately compare data across multiple sources, reduce human effort, and improve reconciliation accuracy.</a:t>
            </a:r>
          </a:p>
        </p:txBody>
      </p:sp>
    </p:spTree>
  </p:cSld>
  <p:clrMapOvr>
    <a:masterClrMapping/>
  </p:clrMapOvr>
  <mc:AlternateContent xmlns:mc="http://schemas.openxmlformats.org/markup-compatibility/2006">
    <mc:Choice xmlns:p14="http://schemas.microsoft.com/office/powerpoint/2010/main" Requires="p14">
      <p:transition spd="fast" advClick="1" p14:dur="500">
        <p:push dir="l"/>
      </p:transition>
    </mc:Choice>
    <mc:Fallback>
      <p:transition spd="fast">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31416"/>
        </a:solidFill>
      </p:bgPr>
    </p:bg>
    <p:spTree>
      <p:nvGrpSpPr>
        <p:cNvPr id="1" name=""/>
        <p:cNvGrpSpPr/>
        <p:nvPr/>
      </p:nvGrpSpPr>
      <p:grpSpPr>
        <a:xfrm>
          <a:off x="0" y="0"/>
          <a:ext cx="0" cy="0"/>
          <a:chOff x="0" y="0"/>
          <a:chExt cx="0" cy="0"/>
        </a:xfrm>
      </p:grpSpPr>
      <p:sp>
        <p:nvSpPr>
          <p:cNvPr id="108" name="Freeform 3"/>
          <p:cNvSpPr/>
          <p:nvPr/>
        </p:nvSpPr>
        <p:spPr>
          <a:xfrm>
            <a:off x="927333" y="-3073168"/>
            <a:ext cx="16433334" cy="16433335"/>
          </a:xfrm>
          <a:prstGeom prst="ellipse">
            <a:avLst/>
          </a:prstGeom>
          <a:ln w="95250" cap="sq">
            <a:solidFill>
              <a:srgbClr val="95ABF8"/>
            </a:solidFill>
            <a:miter/>
          </a:ln>
        </p:spPr>
        <p:txBody>
          <a:bodyPr lIns="45719" rIns="45719"/>
          <a:lstStyle/>
          <a:p>
            <a:pPr/>
          </a:p>
        </p:txBody>
      </p:sp>
      <p:sp>
        <p:nvSpPr>
          <p:cNvPr id="109" name="Freeform 6"/>
          <p:cNvSpPr/>
          <p:nvPr/>
        </p:nvSpPr>
        <p:spPr>
          <a:xfrm>
            <a:off x="1806218" y="-2194282"/>
            <a:ext cx="14675565" cy="14675565"/>
          </a:xfrm>
          <a:prstGeom prst="ellipse">
            <a:avLst/>
          </a:prstGeom>
          <a:ln w="95250" cap="sq">
            <a:solidFill>
              <a:srgbClr val="73C2E7"/>
            </a:solidFill>
            <a:miter/>
          </a:ln>
        </p:spPr>
        <p:txBody>
          <a:bodyPr lIns="45719" rIns="45719"/>
          <a:lstStyle/>
          <a:p>
            <a:pPr/>
          </a:p>
        </p:txBody>
      </p:sp>
      <p:sp>
        <p:nvSpPr>
          <p:cNvPr id="110" name="Freeform 9"/>
          <p:cNvSpPr/>
          <p:nvPr/>
        </p:nvSpPr>
        <p:spPr>
          <a:xfrm>
            <a:off x="2786468" y="-1214032"/>
            <a:ext cx="12715063" cy="12715063"/>
          </a:xfrm>
          <a:prstGeom prst="ellipse">
            <a:avLst/>
          </a:prstGeom>
          <a:ln w="95250" cap="sq">
            <a:solidFill>
              <a:srgbClr val="F67BDC"/>
            </a:solidFill>
            <a:miter/>
          </a:ln>
        </p:spPr>
        <p:txBody>
          <a:bodyPr lIns="45719" rIns="45719"/>
          <a:lstStyle/>
          <a:p>
            <a:pPr/>
          </a:p>
        </p:txBody>
      </p:sp>
      <p:sp>
        <p:nvSpPr>
          <p:cNvPr id="111" name="TextBox 11"/>
          <p:cNvSpPr txBox="1"/>
          <p:nvPr/>
        </p:nvSpPr>
        <p:spPr>
          <a:xfrm>
            <a:off x="6440296" y="730112"/>
            <a:ext cx="4181748" cy="76897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5700"/>
              </a:lnSpc>
              <a:defRPr b="1" spc="-413" sz="6500">
                <a:solidFill>
                  <a:srgbClr val="FFFFFF"/>
                </a:solidFill>
                <a:latin typeface="Arial Unicode Bold"/>
                <a:ea typeface="Arial Unicode Bold"/>
                <a:cs typeface="Arial Unicode Bold"/>
                <a:sym typeface="Arial Unicode Bold"/>
              </a:defRPr>
            </a:lvl1pPr>
          </a:lstStyle>
          <a:p>
            <a:pPr/>
            <a:r>
              <a:t>Objectives:</a:t>
            </a:r>
          </a:p>
        </p:txBody>
      </p:sp>
      <p:grpSp>
        <p:nvGrpSpPr>
          <p:cNvPr id="114" name="Group 12"/>
          <p:cNvGrpSpPr/>
          <p:nvPr/>
        </p:nvGrpSpPr>
        <p:grpSpPr>
          <a:xfrm>
            <a:off x="4996410" y="1825298"/>
            <a:ext cx="8645513" cy="1733551"/>
            <a:chOff x="0" y="0"/>
            <a:chExt cx="8645512" cy="1733550"/>
          </a:xfrm>
        </p:grpSpPr>
        <p:sp>
          <p:nvSpPr>
            <p:cNvPr id="112" name="TextBox 13"/>
            <p:cNvSpPr txBox="1"/>
            <p:nvPr/>
          </p:nvSpPr>
          <p:spPr>
            <a:xfrm>
              <a:off x="834836" y="0"/>
              <a:ext cx="7810677" cy="17335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900"/>
                </a:lnSpc>
                <a:defRPr sz="3000">
                  <a:solidFill>
                    <a:srgbClr val="FFFFFF"/>
                  </a:solidFill>
                  <a:latin typeface="Arial Unicode"/>
                  <a:ea typeface="Arial Unicode"/>
                  <a:cs typeface="Arial Unicode"/>
                  <a:sym typeface="Arial Unicode"/>
                </a:defRPr>
              </a:lvl1pPr>
            </a:lstStyle>
            <a:p>
              <a:pPr/>
              <a:r>
                <a:t>Automating the entire bank reconciliation process using the UiPath tool will lead to a reduction of manual efforts and faster processing.</a:t>
              </a:r>
            </a:p>
          </p:txBody>
        </p:sp>
        <p:sp>
          <p:nvSpPr>
            <p:cNvPr id="113" name="TextBox 14"/>
            <p:cNvSpPr txBox="1"/>
            <p:nvPr/>
          </p:nvSpPr>
          <p:spPr>
            <a:xfrm>
              <a:off x="0" y="113301"/>
              <a:ext cx="545177" cy="6046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4600"/>
                </a:lnSpc>
                <a:defRPr sz="4700">
                  <a:solidFill>
                    <a:srgbClr val="A5F7FF"/>
                  </a:solidFill>
                  <a:latin typeface="Arial Unicode"/>
                  <a:ea typeface="Arial Unicode"/>
                  <a:cs typeface="Arial Unicode"/>
                  <a:sym typeface="Arial Unicode"/>
                </a:defRPr>
              </a:lvl1pPr>
            </a:lstStyle>
            <a:p>
              <a:pPr/>
              <a:r>
                <a:t>1</a:t>
              </a:r>
            </a:p>
          </p:txBody>
        </p:sp>
      </p:grpSp>
      <p:grpSp>
        <p:nvGrpSpPr>
          <p:cNvPr id="117" name="Group 15"/>
          <p:cNvGrpSpPr/>
          <p:nvPr/>
        </p:nvGrpSpPr>
        <p:grpSpPr>
          <a:xfrm>
            <a:off x="4932712" y="3604804"/>
            <a:ext cx="8645514" cy="1365251"/>
            <a:chOff x="0" y="0"/>
            <a:chExt cx="8645512" cy="1365250"/>
          </a:xfrm>
        </p:grpSpPr>
        <p:sp>
          <p:nvSpPr>
            <p:cNvPr id="115" name="TextBox 16"/>
            <p:cNvSpPr txBox="1"/>
            <p:nvPr/>
          </p:nvSpPr>
          <p:spPr>
            <a:xfrm>
              <a:off x="834836" y="0"/>
              <a:ext cx="7810677" cy="13652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900"/>
                </a:lnSpc>
                <a:defRPr sz="3000">
                  <a:solidFill>
                    <a:srgbClr val="FFFFFF"/>
                  </a:solidFill>
                  <a:latin typeface="Arial Unicode"/>
                  <a:ea typeface="Arial Unicode"/>
                  <a:cs typeface="Arial Unicode"/>
                  <a:sym typeface="Arial Unicode"/>
                </a:defRPr>
              </a:lvl1pPr>
            </a:lstStyle>
            <a:p>
              <a:pPr/>
              <a:r>
                <a:t>To read, validate, and process financial data contained in multiple Excel files of different companies and departments.</a:t>
              </a:r>
            </a:p>
          </p:txBody>
        </p:sp>
        <p:sp>
          <p:nvSpPr>
            <p:cNvPr id="116" name="TextBox 17"/>
            <p:cNvSpPr txBox="1"/>
            <p:nvPr/>
          </p:nvSpPr>
          <p:spPr>
            <a:xfrm>
              <a:off x="0" y="113301"/>
              <a:ext cx="545177" cy="6046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4600"/>
                </a:lnSpc>
                <a:defRPr sz="4700">
                  <a:solidFill>
                    <a:srgbClr val="E65CA5"/>
                  </a:solidFill>
                  <a:latin typeface="Arial Unicode"/>
                  <a:ea typeface="Arial Unicode"/>
                  <a:cs typeface="Arial Unicode"/>
                  <a:sym typeface="Arial Unicode"/>
                </a:defRPr>
              </a:lvl1pPr>
            </a:lstStyle>
            <a:p>
              <a:pPr/>
              <a:r>
                <a:t>2</a:t>
              </a:r>
            </a:p>
          </p:txBody>
        </p:sp>
      </p:grpSp>
      <p:grpSp>
        <p:nvGrpSpPr>
          <p:cNvPr id="120" name="Group 18"/>
          <p:cNvGrpSpPr/>
          <p:nvPr/>
        </p:nvGrpSpPr>
        <p:grpSpPr>
          <a:xfrm>
            <a:off x="4932712" y="5368487"/>
            <a:ext cx="8772908" cy="750563"/>
            <a:chOff x="0" y="0"/>
            <a:chExt cx="8772906" cy="750562"/>
          </a:xfrm>
        </p:grpSpPr>
        <p:sp>
          <p:nvSpPr>
            <p:cNvPr id="118" name="TextBox 19"/>
            <p:cNvSpPr txBox="1"/>
            <p:nvPr/>
          </p:nvSpPr>
          <p:spPr>
            <a:xfrm>
              <a:off x="847137" y="0"/>
              <a:ext cx="7925770" cy="7505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900"/>
                </a:lnSpc>
                <a:defRPr sz="3000">
                  <a:solidFill>
                    <a:srgbClr val="FFFFFF"/>
                  </a:solidFill>
                  <a:latin typeface="Arial Unicode"/>
                  <a:ea typeface="Arial Unicode"/>
                  <a:cs typeface="Arial Unicode"/>
                  <a:sym typeface="Arial Unicode"/>
                </a:defRPr>
              </a:lvl1pPr>
            </a:lstStyle>
            <a:p>
              <a:pPr/>
              <a:r>
                <a:t>Comparison of the bank transactions with the records in the departmental systems.</a:t>
              </a:r>
            </a:p>
          </p:txBody>
        </p:sp>
        <p:sp>
          <p:nvSpPr>
            <p:cNvPr id="119" name="TextBox 20"/>
            <p:cNvSpPr txBox="1"/>
            <p:nvPr/>
          </p:nvSpPr>
          <p:spPr>
            <a:xfrm>
              <a:off x="0" y="113301"/>
              <a:ext cx="553211" cy="6046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4600"/>
                </a:lnSpc>
                <a:defRPr sz="4700">
                  <a:solidFill>
                    <a:srgbClr val="A5F7FF"/>
                  </a:solidFill>
                  <a:latin typeface="Arial Unicode"/>
                  <a:ea typeface="Arial Unicode"/>
                  <a:cs typeface="Arial Unicode"/>
                  <a:sym typeface="Arial Unicode"/>
                </a:defRPr>
              </a:lvl1pPr>
            </a:lstStyle>
            <a:p>
              <a:pPr/>
              <a:r>
                <a:t>3</a:t>
              </a:r>
            </a:p>
          </p:txBody>
        </p:sp>
      </p:grpSp>
      <p:grpSp>
        <p:nvGrpSpPr>
          <p:cNvPr id="123" name="Group 21"/>
          <p:cNvGrpSpPr/>
          <p:nvPr/>
        </p:nvGrpSpPr>
        <p:grpSpPr>
          <a:xfrm>
            <a:off x="4996410" y="6674418"/>
            <a:ext cx="8645513" cy="750563"/>
            <a:chOff x="0" y="0"/>
            <a:chExt cx="8645512" cy="750562"/>
          </a:xfrm>
        </p:grpSpPr>
        <p:sp>
          <p:nvSpPr>
            <p:cNvPr id="121" name="TextBox 22"/>
            <p:cNvSpPr txBox="1"/>
            <p:nvPr/>
          </p:nvSpPr>
          <p:spPr>
            <a:xfrm>
              <a:off x="834836" y="0"/>
              <a:ext cx="7810677" cy="7505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900"/>
                </a:lnSpc>
                <a:defRPr sz="3000">
                  <a:solidFill>
                    <a:srgbClr val="FFFFFF"/>
                  </a:solidFill>
                  <a:latin typeface="Arial Unicode"/>
                  <a:ea typeface="Arial Unicode"/>
                  <a:cs typeface="Arial Unicode"/>
                  <a:sym typeface="Arial Unicode"/>
                </a:defRPr>
              </a:lvl1pPr>
            </a:lstStyle>
            <a:p>
              <a:pPr/>
              <a:r>
                <a:t>Automated classification of transactions into three categories based on specific conditions.</a:t>
              </a:r>
            </a:p>
          </p:txBody>
        </p:sp>
        <p:sp>
          <p:nvSpPr>
            <p:cNvPr id="122" name="TextBox 23"/>
            <p:cNvSpPr txBox="1"/>
            <p:nvPr/>
          </p:nvSpPr>
          <p:spPr>
            <a:xfrm>
              <a:off x="0" y="113301"/>
              <a:ext cx="545177" cy="6046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4600"/>
                </a:lnSpc>
                <a:defRPr sz="4700">
                  <a:solidFill>
                    <a:srgbClr val="E65CA5"/>
                  </a:solidFill>
                  <a:latin typeface="Arial Unicode"/>
                  <a:ea typeface="Arial Unicode"/>
                  <a:cs typeface="Arial Unicode"/>
                  <a:sym typeface="Arial Unicode"/>
                </a:defRPr>
              </a:lvl1pPr>
            </a:lstStyle>
            <a:p>
              <a:pPr/>
              <a:r>
                <a:t>4</a:t>
              </a:r>
            </a:p>
          </p:txBody>
        </p:sp>
      </p:grpSp>
      <p:grpSp>
        <p:nvGrpSpPr>
          <p:cNvPr id="126" name="Group 24"/>
          <p:cNvGrpSpPr/>
          <p:nvPr/>
        </p:nvGrpSpPr>
        <p:grpSpPr>
          <a:xfrm>
            <a:off x="4996410" y="7980349"/>
            <a:ext cx="8645513" cy="1118863"/>
            <a:chOff x="0" y="0"/>
            <a:chExt cx="8645512" cy="1118862"/>
          </a:xfrm>
        </p:grpSpPr>
        <p:sp>
          <p:nvSpPr>
            <p:cNvPr id="124" name="TextBox 25"/>
            <p:cNvSpPr txBox="1"/>
            <p:nvPr/>
          </p:nvSpPr>
          <p:spPr>
            <a:xfrm>
              <a:off x="834836" y="0"/>
              <a:ext cx="7810677" cy="11188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900"/>
                </a:lnSpc>
                <a:defRPr sz="3000">
                  <a:solidFill>
                    <a:srgbClr val="FFFFFF"/>
                  </a:solidFill>
                  <a:latin typeface="Arial Unicode"/>
                  <a:ea typeface="Arial Unicode"/>
                  <a:cs typeface="Arial Unicode"/>
                  <a:sym typeface="Arial Unicode"/>
                </a:defRPr>
              </a:lvl1pPr>
            </a:lstStyle>
            <a:p>
              <a:pPr/>
              <a:r>
                <a:t>To avoid errors, manage a huge amount of financial data, and produce reconciliation reports.</a:t>
              </a:r>
            </a:p>
          </p:txBody>
        </p:sp>
        <p:sp>
          <p:nvSpPr>
            <p:cNvPr id="125" name="TextBox 26"/>
            <p:cNvSpPr txBox="1"/>
            <p:nvPr/>
          </p:nvSpPr>
          <p:spPr>
            <a:xfrm>
              <a:off x="0" y="113301"/>
              <a:ext cx="545177" cy="6046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4600"/>
                </a:lnSpc>
                <a:defRPr sz="4700">
                  <a:solidFill>
                    <a:srgbClr val="00FFFC"/>
                  </a:solidFill>
                  <a:latin typeface="Arial Unicode"/>
                  <a:ea typeface="Arial Unicode"/>
                  <a:cs typeface="Arial Unicode"/>
                  <a:sym typeface="Arial Unicode"/>
                </a:defRPr>
              </a:lvl1pPr>
            </a:lstStyle>
            <a:p>
              <a:pPr/>
              <a:r>
                <a:t>5</a:t>
              </a:r>
            </a:p>
          </p:txBody>
        </p:sp>
      </p:grpSp>
    </p:spTree>
  </p:cSld>
  <p:clrMapOvr>
    <a:masterClrMapping/>
  </p:clrMapOvr>
  <mc:AlternateContent xmlns:mc="http://schemas.openxmlformats.org/markup-compatibility/2006">
    <mc:Choice xmlns:p14="http://schemas.microsoft.com/office/powerpoint/2010/main" Requires="p14">
      <p:transition spd="fast" advClick="1" p14:dur="500">
        <p:push dir="l"/>
      </p:transition>
    </mc:Choice>
    <mc:Fallback>
      <p:transition spd="fast">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31416"/>
        </a:solidFill>
      </p:bgPr>
    </p:bg>
    <p:spTree>
      <p:nvGrpSpPr>
        <p:cNvPr id="1" name=""/>
        <p:cNvGrpSpPr/>
        <p:nvPr/>
      </p:nvGrpSpPr>
      <p:grpSpPr>
        <a:xfrm>
          <a:off x="0" y="0"/>
          <a:ext cx="0" cy="0"/>
          <a:chOff x="0" y="0"/>
          <a:chExt cx="0" cy="0"/>
        </a:xfrm>
      </p:grpSpPr>
      <p:sp>
        <p:nvSpPr>
          <p:cNvPr id="128" name="Freeform 2"/>
          <p:cNvSpPr/>
          <p:nvPr/>
        </p:nvSpPr>
        <p:spPr>
          <a:xfrm>
            <a:off x="12147174" y="1883704"/>
            <a:ext cx="1517287" cy="6519593"/>
          </a:xfrm>
          <a:prstGeom prst="rect">
            <a:avLst/>
          </a:prstGeom>
          <a:blipFill>
            <a:blip r:embed="rId2"/>
            <a:stretch>
              <a:fillRect/>
            </a:stretch>
          </a:blipFill>
          <a:ln w="12700">
            <a:miter lim="400000"/>
          </a:ln>
        </p:spPr>
        <p:txBody>
          <a:bodyPr lIns="45719" rIns="45719"/>
          <a:lstStyle/>
          <a:p>
            <a:pPr/>
          </a:p>
        </p:txBody>
      </p:sp>
      <p:sp>
        <p:nvSpPr>
          <p:cNvPr id="129" name="Freeform 3"/>
          <p:cNvSpPr/>
          <p:nvPr/>
        </p:nvSpPr>
        <p:spPr>
          <a:xfrm flipV="1">
            <a:off x="14280325" y="1883703"/>
            <a:ext cx="1517288" cy="6519593"/>
          </a:xfrm>
          <a:prstGeom prst="rect">
            <a:avLst/>
          </a:prstGeom>
          <a:blipFill>
            <a:blip r:embed="rId3"/>
            <a:stretch>
              <a:fillRect/>
            </a:stretch>
          </a:blipFill>
          <a:ln w="12700">
            <a:miter lim="400000"/>
          </a:ln>
        </p:spPr>
        <p:txBody>
          <a:bodyPr lIns="45719" rIns="45719"/>
          <a:lstStyle/>
          <a:p>
            <a:pPr/>
          </a:p>
        </p:txBody>
      </p:sp>
      <p:sp>
        <p:nvSpPr>
          <p:cNvPr id="130" name="Freeform 4"/>
          <p:cNvSpPr/>
          <p:nvPr/>
        </p:nvSpPr>
        <p:spPr>
          <a:xfrm>
            <a:off x="16416737" y="1883704"/>
            <a:ext cx="1517287" cy="6519593"/>
          </a:xfrm>
          <a:prstGeom prst="rect">
            <a:avLst/>
          </a:prstGeom>
          <a:blipFill>
            <a:blip r:embed="rId4"/>
            <a:stretch>
              <a:fillRect/>
            </a:stretch>
          </a:blipFill>
          <a:ln w="12700">
            <a:miter lim="400000"/>
          </a:ln>
        </p:spPr>
        <p:txBody>
          <a:bodyPr lIns="45719" rIns="45719"/>
          <a:lstStyle/>
          <a:p>
            <a:pPr/>
          </a:p>
        </p:txBody>
      </p:sp>
      <p:sp>
        <p:nvSpPr>
          <p:cNvPr id="131" name="TextBox 5"/>
          <p:cNvSpPr txBox="1"/>
          <p:nvPr/>
        </p:nvSpPr>
        <p:spPr>
          <a:xfrm>
            <a:off x="420187" y="4081600"/>
            <a:ext cx="13860140" cy="15248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1300"/>
              </a:lnSpc>
              <a:defRPr b="1" spc="-813" sz="12900">
                <a:solidFill>
                  <a:srgbClr val="FFFFFF"/>
                </a:solidFill>
                <a:latin typeface="Arial Unicode Bold"/>
                <a:ea typeface="Arial Unicode Bold"/>
                <a:cs typeface="Arial Unicode Bold"/>
                <a:sym typeface="Arial Unicode Bold"/>
              </a:defRPr>
            </a:lvl1pPr>
          </a:lstStyle>
          <a:p>
            <a:pPr/>
            <a:r>
              <a:t>Literature survey</a:t>
            </a:r>
          </a:p>
        </p:txBody>
      </p:sp>
    </p:spTree>
  </p:cSld>
  <p:clrMapOvr>
    <a:masterClrMapping/>
  </p:clrMapOvr>
  <mc:AlternateContent xmlns:mc="http://schemas.openxmlformats.org/markup-compatibility/2006">
    <mc:Choice xmlns:p14="http://schemas.microsoft.com/office/powerpoint/2010/main" Requires="p14">
      <p:transition spd="fast" advClick="1" p14:dur="500">
        <p:push dir="l"/>
      </p:transition>
    </mc:Choice>
    <mc:Fallback>
      <p:transition spd="fast">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gradFill flip="none" rotWithShape="1">
          <a:gsLst>
            <a:gs pos="0">
              <a:srgbClr val="3CC2D8"/>
            </a:gs>
            <a:gs pos="33333">
              <a:srgbClr val="22626D"/>
            </a:gs>
            <a:gs pos="66667">
              <a:srgbClr val="131416"/>
            </a:gs>
            <a:gs pos="100000">
              <a:srgbClr val="131416"/>
            </a:gs>
          </a:gsLst>
          <a:lin ang="2700000" scaled="0"/>
        </a:gradFill>
      </p:bgPr>
    </p:bg>
    <p:spTree>
      <p:nvGrpSpPr>
        <p:cNvPr id="1" name=""/>
        <p:cNvGrpSpPr/>
        <p:nvPr/>
      </p:nvGrpSpPr>
      <p:grpSpPr>
        <a:xfrm>
          <a:off x="0" y="0"/>
          <a:ext cx="0" cy="0"/>
          <a:chOff x="0" y="0"/>
          <a:chExt cx="0" cy="0"/>
        </a:xfrm>
      </p:grpSpPr>
      <p:sp>
        <p:nvSpPr>
          <p:cNvPr id="133" name="Freeform 3"/>
          <p:cNvSpPr/>
          <p:nvPr/>
        </p:nvSpPr>
        <p:spPr>
          <a:xfrm>
            <a:off x="-415107" y="-857238"/>
            <a:ext cx="12557405" cy="12557404"/>
          </a:xfrm>
          <a:prstGeom prst="ellipse">
            <a:avLst/>
          </a:prstGeom>
          <a:gradFill>
            <a:gsLst>
              <a:gs pos="0">
                <a:srgbClr val="3CC2D8"/>
              </a:gs>
              <a:gs pos="33333">
                <a:srgbClr val="22626D"/>
              </a:gs>
              <a:gs pos="66667">
                <a:srgbClr val="131416"/>
              </a:gs>
              <a:gs pos="100000">
                <a:srgbClr val="131416"/>
              </a:gs>
            </a:gsLst>
            <a:lin ang="2700000"/>
          </a:gradFill>
          <a:ln w="12700">
            <a:miter lim="400000"/>
          </a:ln>
        </p:spPr>
        <p:txBody>
          <a:bodyPr lIns="45719" rIns="45719"/>
          <a:lstStyle/>
          <a:p>
            <a:pPr/>
          </a:p>
        </p:txBody>
      </p:sp>
      <p:sp>
        <p:nvSpPr>
          <p:cNvPr id="134" name="Freeform 5"/>
          <p:cNvSpPr/>
          <p:nvPr/>
        </p:nvSpPr>
        <p:spPr>
          <a:xfrm rot="14443922">
            <a:off x="7622518" y="4049229"/>
            <a:ext cx="15477021" cy="15477019"/>
          </a:xfrm>
          <a:prstGeom prst="rect">
            <a:avLst/>
          </a:prstGeom>
          <a:blipFill>
            <a:blip r:embed="rId2"/>
            <a:stretch>
              <a:fillRect/>
            </a:stretch>
          </a:blipFill>
          <a:ln w="12700">
            <a:miter lim="400000"/>
          </a:ln>
        </p:spPr>
        <p:txBody>
          <a:bodyPr lIns="45719" rIns="45719"/>
          <a:lstStyle/>
          <a:p>
            <a:pPr/>
          </a:p>
        </p:txBody>
      </p:sp>
      <p:sp>
        <p:nvSpPr>
          <p:cNvPr id="135" name="TextBox 6"/>
          <p:cNvSpPr txBox="1"/>
          <p:nvPr/>
        </p:nvSpPr>
        <p:spPr>
          <a:xfrm>
            <a:off x="3229440" y="1479709"/>
            <a:ext cx="15058560" cy="42811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7000"/>
              </a:lnSpc>
              <a:defRPr b="1" spc="-503" sz="7900">
                <a:solidFill>
                  <a:srgbClr val="FFFFFF"/>
                </a:solidFill>
                <a:latin typeface="Arial Unicode Bold"/>
                <a:ea typeface="Arial Unicode Bold"/>
                <a:cs typeface="Arial Unicode Bold"/>
                <a:sym typeface="Arial Unicode Bold"/>
              </a:defRPr>
            </a:pPr>
            <a:r>
              <a:t>Automation of Rule-Based Financial Processes</a:t>
            </a:r>
          </a:p>
          <a:p>
            <a:pPr>
              <a:lnSpc>
                <a:spcPts val="10700"/>
              </a:lnSpc>
            </a:pPr>
          </a:p>
        </p:txBody>
      </p:sp>
      <p:sp>
        <p:nvSpPr>
          <p:cNvPr id="136" name="TextBox 7"/>
          <p:cNvSpPr txBox="1"/>
          <p:nvPr/>
        </p:nvSpPr>
        <p:spPr>
          <a:xfrm>
            <a:off x="2761906" y="4563793"/>
            <a:ext cx="13899088" cy="3263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200"/>
              </a:lnSpc>
              <a:defRPr sz="3200">
                <a:solidFill>
                  <a:srgbClr val="FFFFFF"/>
                </a:solidFill>
                <a:latin typeface="Arial Unicode"/>
                <a:ea typeface="Arial Unicode"/>
                <a:cs typeface="Arial Unicode"/>
                <a:sym typeface="Arial Unicode"/>
              </a:defRPr>
            </a:lvl1pPr>
          </a:lstStyle>
          <a:p>
            <a:pPr/>
            <a:r>
              <a:t>Robotic process automation is gaining immense traction in finance and banking, considering the fact that this technology is able to automate rule-based operations. According to a systematic review done by Judith Wewerka and Manfred Reichert in 2020, robotic process automation works best in cases where actions are rule-based because it provides room for automation in an environment where everything is structured. In this sense, it can be said that financial activities such as financial reconciliations are easily amenable to automation because they are very structured.</a:t>
            </a:r>
          </a:p>
        </p:txBody>
      </p:sp>
      <p:sp>
        <p:nvSpPr>
          <p:cNvPr id="137" name="TextBox 8"/>
          <p:cNvSpPr txBox="1"/>
          <p:nvPr/>
        </p:nvSpPr>
        <p:spPr>
          <a:xfrm>
            <a:off x="260767" y="1245769"/>
            <a:ext cx="3660365" cy="272409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0200"/>
              </a:lnSpc>
              <a:defRPr b="1" spc="-1449" sz="23000">
                <a:solidFill>
                  <a:srgbClr val="FFFFFF"/>
                </a:solidFill>
                <a:latin typeface="Arial Unicode Bold"/>
                <a:ea typeface="Arial Unicode Bold"/>
                <a:cs typeface="Arial Unicode Bold"/>
                <a:sym typeface="Arial Unicode Bold"/>
              </a:defRPr>
            </a:lvl1pPr>
          </a:lstStyle>
          <a:p>
            <a:pPr/>
            <a:r>
              <a:t>01</a:t>
            </a:r>
          </a:p>
        </p:txBody>
      </p:sp>
    </p:spTree>
  </p:cSld>
  <p:clrMapOvr>
    <a:masterClrMapping/>
  </p:clrMapOvr>
  <mc:AlternateContent xmlns:mc="http://schemas.openxmlformats.org/markup-compatibility/2006">
    <mc:Choice xmlns:p14="http://schemas.microsoft.com/office/powerpoint/2010/main" Requires="p14">
      <p:transition spd="fast" advClick="1" p14:dur="500">
        <p:push dir="l"/>
      </p:transition>
    </mc:Choice>
    <mc:Fallback>
      <p:transition spd="fast">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31416"/>
        </a:solidFill>
      </p:bgPr>
    </p:bg>
    <p:spTree>
      <p:nvGrpSpPr>
        <p:cNvPr id="1" name=""/>
        <p:cNvGrpSpPr/>
        <p:nvPr/>
      </p:nvGrpSpPr>
      <p:grpSpPr>
        <a:xfrm>
          <a:off x="0" y="0"/>
          <a:ext cx="0" cy="0"/>
          <a:chOff x="0" y="0"/>
          <a:chExt cx="0" cy="0"/>
        </a:xfrm>
      </p:grpSpPr>
      <p:sp>
        <p:nvSpPr>
          <p:cNvPr id="139" name="Freeform 3"/>
          <p:cNvSpPr/>
          <p:nvPr/>
        </p:nvSpPr>
        <p:spPr>
          <a:xfrm>
            <a:off x="7393626" y="-645555"/>
            <a:ext cx="13652664" cy="13652663"/>
          </a:xfrm>
          <a:prstGeom prst="ellipse">
            <a:avLst/>
          </a:prstGeom>
          <a:gradFill>
            <a:gsLst>
              <a:gs pos="0">
                <a:srgbClr val="3CC2D8"/>
              </a:gs>
              <a:gs pos="33333">
                <a:srgbClr val="22626D"/>
              </a:gs>
              <a:gs pos="66667">
                <a:srgbClr val="131416"/>
              </a:gs>
              <a:gs pos="100000">
                <a:srgbClr val="131416"/>
              </a:gs>
            </a:gsLst>
            <a:lin ang="2700000"/>
          </a:gradFill>
          <a:ln w="12700">
            <a:miter lim="400000"/>
          </a:ln>
        </p:spPr>
        <p:txBody>
          <a:bodyPr lIns="45719" rIns="45719"/>
          <a:lstStyle/>
          <a:p>
            <a:pPr/>
          </a:p>
        </p:txBody>
      </p:sp>
      <p:sp>
        <p:nvSpPr>
          <p:cNvPr id="140" name="Freeform 6"/>
          <p:cNvSpPr/>
          <p:nvPr/>
        </p:nvSpPr>
        <p:spPr>
          <a:xfrm>
            <a:off x="10158655" y="1389177"/>
            <a:ext cx="9583199" cy="9583199"/>
          </a:xfrm>
          <a:prstGeom prst="ellipse">
            <a:avLst/>
          </a:prstGeom>
          <a:gradFill>
            <a:gsLst>
              <a:gs pos="0">
                <a:srgbClr val="7AFFE6"/>
              </a:gs>
              <a:gs pos="33333">
                <a:srgbClr val="3A8B7E"/>
              </a:gs>
              <a:gs pos="66667">
                <a:srgbClr val="131416"/>
              </a:gs>
              <a:gs pos="100000">
                <a:srgbClr val="131416"/>
              </a:gs>
            </a:gsLst>
            <a:lin ang="2700000"/>
          </a:gradFill>
          <a:ln w="12700">
            <a:miter lim="400000"/>
          </a:ln>
        </p:spPr>
        <p:txBody>
          <a:bodyPr lIns="45719" rIns="45719"/>
          <a:lstStyle/>
          <a:p>
            <a:pPr/>
          </a:p>
        </p:txBody>
      </p:sp>
      <p:sp>
        <p:nvSpPr>
          <p:cNvPr id="141" name="Freeform 8"/>
          <p:cNvSpPr/>
          <p:nvPr/>
        </p:nvSpPr>
        <p:spPr>
          <a:xfrm rot="14132788">
            <a:off x="6418885" y="1038275"/>
            <a:ext cx="16756192" cy="16756194"/>
          </a:xfrm>
          <a:prstGeom prst="rect">
            <a:avLst/>
          </a:prstGeom>
          <a:blipFill>
            <a:blip r:embed="rId2"/>
            <a:stretch>
              <a:fillRect/>
            </a:stretch>
          </a:blipFill>
          <a:ln w="12700">
            <a:miter lim="400000"/>
          </a:ln>
        </p:spPr>
        <p:txBody>
          <a:bodyPr lIns="45719" rIns="45719"/>
          <a:lstStyle/>
          <a:p>
            <a:pPr/>
          </a:p>
        </p:txBody>
      </p:sp>
      <p:sp>
        <p:nvSpPr>
          <p:cNvPr id="142" name="TextBox 9"/>
          <p:cNvSpPr txBox="1"/>
          <p:nvPr/>
        </p:nvSpPr>
        <p:spPr>
          <a:xfrm>
            <a:off x="4828812" y="1732077"/>
            <a:ext cx="14660454" cy="26160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0000"/>
              </a:lnSpc>
              <a:defRPr b="1" spc="-717" sz="11300">
                <a:solidFill>
                  <a:srgbClr val="FFFFFF"/>
                </a:solidFill>
                <a:latin typeface="Arial Unicode Bold"/>
                <a:ea typeface="Arial Unicode Bold"/>
                <a:cs typeface="Arial Unicode Bold"/>
                <a:sym typeface="Arial Unicode Bold"/>
              </a:defRPr>
            </a:lvl1pPr>
          </a:lstStyle>
          <a:p>
            <a:pPr/>
            <a:r>
              <a:t>RPA Adoption in Financial Institutions</a:t>
            </a:r>
          </a:p>
        </p:txBody>
      </p:sp>
      <p:sp>
        <p:nvSpPr>
          <p:cNvPr id="143" name="TextBox 10"/>
          <p:cNvSpPr txBox="1"/>
          <p:nvPr/>
        </p:nvSpPr>
        <p:spPr>
          <a:xfrm>
            <a:off x="5067677" y="4593645"/>
            <a:ext cx="11461295" cy="3263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200"/>
              </a:lnSpc>
              <a:defRPr sz="3200">
                <a:solidFill>
                  <a:srgbClr val="FFFFFF"/>
                </a:solidFill>
                <a:latin typeface="Arial Unicode"/>
                <a:ea typeface="Arial Unicode"/>
                <a:cs typeface="Arial Unicode"/>
                <a:sym typeface="Arial Unicode"/>
              </a:defRPr>
            </a:lvl1pPr>
          </a:lstStyle>
          <a:p>
            <a:pPr/>
            <a:r>
              <a:t>Itescribes the application of RPA tools powered by UiPath in banking firms for automating Excel work processes and legacy system integration. Processes such as reconciliation and reporting are reported to be able to be automated using such processes to achieve up to 50% efficiency improvements in them, making them fast and accurate. It is therefore apparent that activities in finance are indeed very amenable to automation through RPA tools.</a:t>
            </a:r>
          </a:p>
        </p:txBody>
      </p:sp>
      <p:sp>
        <p:nvSpPr>
          <p:cNvPr id="144" name="TextBox 11"/>
          <p:cNvSpPr txBox="1"/>
          <p:nvPr/>
        </p:nvSpPr>
        <p:spPr>
          <a:xfrm>
            <a:off x="1168449" y="2094028"/>
            <a:ext cx="3660366" cy="272409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0200"/>
              </a:lnSpc>
              <a:defRPr b="1" spc="-1449" sz="23000">
                <a:solidFill>
                  <a:srgbClr val="FFFFFF"/>
                </a:solidFill>
                <a:latin typeface="Arial Unicode Bold"/>
                <a:ea typeface="Arial Unicode Bold"/>
                <a:cs typeface="Arial Unicode Bold"/>
                <a:sym typeface="Arial Unicode Bold"/>
              </a:defRPr>
            </a:lvl1pPr>
          </a:lstStyle>
          <a:p>
            <a:pPr/>
            <a:r>
              <a:t>02</a:t>
            </a:r>
          </a:p>
        </p:txBody>
      </p:sp>
    </p:spTree>
  </p:cSld>
  <p:clrMapOvr>
    <a:masterClrMapping/>
  </p:clrMapOvr>
  <mc:AlternateContent xmlns:mc="http://schemas.openxmlformats.org/markup-compatibility/2006">
    <mc:Choice xmlns:p14="http://schemas.microsoft.com/office/powerpoint/2010/main" Requires="p14">
      <p:transition spd="fast" advClick="1" p14:dur="500">
        <p:push dir="l"/>
      </p:transition>
    </mc:Choice>
    <mc:Fallback>
      <p:transition spd="fast">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31416"/>
        </a:solidFill>
      </p:bgPr>
    </p:bg>
    <p:spTree>
      <p:nvGrpSpPr>
        <p:cNvPr id="1" name=""/>
        <p:cNvGrpSpPr/>
        <p:nvPr/>
      </p:nvGrpSpPr>
      <p:grpSpPr>
        <a:xfrm>
          <a:off x="0" y="0"/>
          <a:ext cx="0" cy="0"/>
          <a:chOff x="0" y="0"/>
          <a:chExt cx="0" cy="0"/>
        </a:xfrm>
      </p:grpSpPr>
      <p:sp>
        <p:nvSpPr>
          <p:cNvPr id="146" name="Freeform 3"/>
          <p:cNvSpPr/>
          <p:nvPr/>
        </p:nvSpPr>
        <p:spPr>
          <a:xfrm>
            <a:off x="3555979" y="1387940"/>
            <a:ext cx="7870360" cy="7870361"/>
          </a:xfrm>
          <a:prstGeom prst="ellipse">
            <a:avLst/>
          </a:prstGeom>
          <a:gradFill>
            <a:gsLst>
              <a:gs pos="0">
                <a:srgbClr val="3CC2D8"/>
              </a:gs>
              <a:gs pos="33333">
                <a:srgbClr val="22626D"/>
              </a:gs>
              <a:gs pos="66667">
                <a:srgbClr val="131416"/>
              </a:gs>
              <a:gs pos="100000">
                <a:srgbClr val="131416"/>
              </a:gs>
            </a:gsLst>
            <a:lin ang="2700000"/>
          </a:gradFill>
          <a:ln w="12700">
            <a:miter lim="400000"/>
          </a:ln>
        </p:spPr>
        <p:txBody>
          <a:bodyPr lIns="45719" rIns="45719"/>
          <a:lstStyle/>
          <a:p>
            <a:pPr/>
          </a:p>
        </p:txBody>
      </p:sp>
      <p:sp>
        <p:nvSpPr>
          <p:cNvPr id="147" name="Freeform 6"/>
          <p:cNvSpPr/>
          <p:nvPr/>
        </p:nvSpPr>
        <p:spPr>
          <a:xfrm>
            <a:off x="8763728" y="3059712"/>
            <a:ext cx="5524432" cy="5524432"/>
          </a:xfrm>
          <a:prstGeom prst="ellipse">
            <a:avLst/>
          </a:prstGeom>
          <a:gradFill>
            <a:gsLst>
              <a:gs pos="0">
                <a:srgbClr val="7AFFE6"/>
              </a:gs>
              <a:gs pos="33333">
                <a:srgbClr val="3A8B7E"/>
              </a:gs>
              <a:gs pos="66667">
                <a:srgbClr val="131416"/>
              </a:gs>
              <a:gs pos="100000">
                <a:srgbClr val="131416"/>
              </a:gs>
            </a:gsLst>
            <a:lin ang="2700000"/>
          </a:gradFill>
          <a:ln w="12700">
            <a:miter lim="400000"/>
          </a:ln>
        </p:spPr>
        <p:txBody>
          <a:bodyPr lIns="45719" rIns="45719"/>
          <a:lstStyle/>
          <a:p>
            <a:pPr/>
          </a:p>
        </p:txBody>
      </p:sp>
      <p:sp>
        <p:nvSpPr>
          <p:cNvPr id="148" name="TextBox 8"/>
          <p:cNvSpPr txBox="1"/>
          <p:nvPr/>
        </p:nvSpPr>
        <p:spPr>
          <a:xfrm>
            <a:off x="3793737" y="991791"/>
            <a:ext cx="17988621" cy="24326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9300"/>
              </a:lnSpc>
              <a:defRPr b="1" spc="-666" sz="10500">
                <a:solidFill>
                  <a:srgbClr val="FFFFFF"/>
                </a:solidFill>
                <a:latin typeface="Arial Unicode Bold"/>
                <a:ea typeface="Arial Unicode Bold"/>
                <a:cs typeface="Arial Unicode Bold"/>
                <a:sym typeface="Arial Unicode Bold"/>
              </a:defRPr>
            </a:lvl1pPr>
          </a:lstStyle>
          <a:p>
            <a:pPr/>
            <a:r>
              <a:t>Automation of Financial Reconciliation Processes</a:t>
            </a:r>
          </a:p>
        </p:txBody>
      </p:sp>
      <p:sp>
        <p:nvSpPr>
          <p:cNvPr id="149" name="TextBox 9"/>
          <p:cNvSpPr txBox="1"/>
          <p:nvPr/>
        </p:nvSpPr>
        <p:spPr>
          <a:xfrm>
            <a:off x="694302" y="4011357"/>
            <a:ext cx="17281578" cy="5460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3300"/>
              </a:lnSpc>
              <a:defRPr sz="3300">
                <a:solidFill>
                  <a:srgbClr val="FFFFFF"/>
                </a:solidFill>
                <a:latin typeface="Arial Unicode"/>
                <a:ea typeface="Arial Unicode"/>
                <a:cs typeface="Arial Unicode"/>
                <a:sym typeface="Arial Unicode"/>
              </a:defRPr>
            </a:pPr>
            <a:r>
              <a:t>Moreover, further research on the automation of financial reconciliation conducted by Pholarin Matin (2024) shows that conventional reconciliations are resource-intensive and error-prone, while robotic process automation is characterized by increased accuracy and scalability, ensuring compliance. The findings reveal that financial automation allows for efficient processing of transactions, eliminating the need for manual involvement, which makes it appropriate for transaction-intensive situations.</a:t>
            </a:r>
          </a:p>
          <a:p>
            <a:pPr>
              <a:lnSpc>
                <a:spcPts val="3300"/>
              </a:lnSpc>
            </a:pPr>
          </a:p>
          <a:p>
            <a:pPr>
              <a:lnSpc>
                <a:spcPts val="3300"/>
              </a:lnSpc>
              <a:defRPr sz="3300">
                <a:solidFill>
                  <a:srgbClr val="FFFFFF"/>
                </a:solidFill>
                <a:latin typeface="Arial Unicode"/>
                <a:ea typeface="Arial Unicode"/>
                <a:cs typeface="Arial Unicode"/>
                <a:sym typeface="Arial Unicode"/>
              </a:defRPr>
            </a:pPr>
            <a:r>
              <a:t>Furthermore, according to the industry report published by UiPath, finance and accounting organizations encounter difficulties owing to numerous financial transactions and outdated technology infrastructure. Robotic process automation enables solving these problems by streamlining the data extraction, verification, and comparison procedures through various sources, including Excel files and other platforms within the organization. Moreover, case studies demonstrate the effectiveness of automated bank reconciliation.</a:t>
            </a:r>
          </a:p>
        </p:txBody>
      </p:sp>
      <p:sp>
        <p:nvSpPr>
          <p:cNvPr id="150" name="TextBox 10"/>
          <p:cNvSpPr txBox="1"/>
          <p:nvPr/>
        </p:nvSpPr>
        <p:spPr>
          <a:xfrm>
            <a:off x="425441" y="1016958"/>
            <a:ext cx="3368297" cy="272409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0200"/>
              </a:lnSpc>
              <a:defRPr b="1" spc="-1449" sz="23000">
                <a:solidFill>
                  <a:srgbClr val="FFFFFF"/>
                </a:solidFill>
                <a:latin typeface="Arial Unicode Bold"/>
                <a:ea typeface="Arial Unicode Bold"/>
                <a:cs typeface="Arial Unicode Bold"/>
                <a:sym typeface="Arial Unicode Bold"/>
              </a:defRPr>
            </a:lvl1pPr>
          </a:lstStyle>
          <a:p>
            <a:pPr/>
            <a:r>
              <a:t>03</a:t>
            </a:r>
          </a:p>
        </p:txBody>
      </p:sp>
    </p:spTree>
  </p:cSld>
  <p:clrMapOvr>
    <a:masterClrMapping/>
  </p:clrMapOvr>
  <mc:AlternateContent xmlns:mc="http://schemas.openxmlformats.org/markup-compatibility/2006">
    <mc:Choice xmlns:p14="http://schemas.microsoft.com/office/powerpoint/2010/main" Requires="p14">
      <p:transition spd="fast" advClick="1" p14:dur="500">
        <p:push dir="l"/>
      </p:transition>
    </mc:Choice>
    <mc:Fallback>
      <p:transition spd="fast">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31416"/>
        </a:solidFill>
      </p:bgPr>
    </p:bg>
    <p:spTree>
      <p:nvGrpSpPr>
        <p:cNvPr id="1" name=""/>
        <p:cNvGrpSpPr/>
        <p:nvPr/>
      </p:nvGrpSpPr>
      <p:grpSpPr>
        <a:xfrm>
          <a:off x="0" y="0"/>
          <a:ext cx="0" cy="0"/>
          <a:chOff x="0" y="0"/>
          <a:chExt cx="0" cy="0"/>
        </a:xfrm>
      </p:grpSpPr>
      <p:sp>
        <p:nvSpPr>
          <p:cNvPr id="152" name="Freeform 2"/>
          <p:cNvSpPr/>
          <p:nvPr/>
        </p:nvSpPr>
        <p:spPr>
          <a:xfrm>
            <a:off x="13261872" y="1883704"/>
            <a:ext cx="1517287" cy="6519593"/>
          </a:xfrm>
          <a:prstGeom prst="rect">
            <a:avLst/>
          </a:prstGeom>
          <a:blipFill>
            <a:blip r:embed="rId2"/>
            <a:stretch>
              <a:fillRect/>
            </a:stretch>
          </a:blipFill>
          <a:ln w="12700">
            <a:miter lim="400000"/>
          </a:ln>
        </p:spPr>
        <p:txBody>
          <a:bodyPr lIns="45719" rIns="45719"/>
          <a:lstStyle/>
          <a:p>
            <a:pPr/>
          </a:p>
        </p:txBody>
      </p:sp>
      <p:sp>
        <p:nvSpPr>
          <p:cNvPr id="153" name="Freeform 3"/>
          <p:cNvSpPr/>
          <p:nvPr/>
        </p:nvSpPr>
        <p:spPr>
          <a:xfrm flipV="1">
            <a:off x="11049259" y="1791125"/>
            <a:ext cx="1517288" cy="6519592"/>
          </a:xfrm>
          <a:prstGeom prst="rect">
            <a:avLst/>
          </a:prstGeom>
          <a:blipFill>
            <a:blip r:embed="rId3"/>
            <a:stretch>
              <a:fillRect/>
            </a:stretch>
          </a:blipFill>
          <a:ln w="12700">
            <a:miter lim="400000"/>
          </a:ln>
        </p:spPr>
        <p:txBody>
          <a:bodyPr lIns="45719" rIns="45719"/>
          <a:lstStyle/>
          <a:p>
            <a:pPr/>
          </a:p>
        </p:txBody>
      </p:sp>
      <p:sp>
        <p:nvSpPr>
          <p:cNvPr id="154" name="Freeform 4"/>
          <p:cNvSpPr/>
          <p:nvPr/>
        </p:nvSpPr>
        <p:spPr>
          <a:xfrm>
            <a:off x="15477207" y="1883704"/>
            <a:ext cx="1517288" cy="6519593"/>
          </a:xfrm>
          <a:prstGeom prst="rect">
            <a:avLst/>
          </a:prstGeom>
          <a:blipFill>
            <a:blip r:embed="rId4"/>
            <a:stretch>
              <a:fillRect/>
            </a:stretch>
          </a:blipFill>
          <a:ln w="12700">
            <a:miter lim="400000"/>
          </a:ln>
        </p:spPr>
        <p:txBody>
          <a:bodyPr lIns="45719" rIns="45719"/>
          <a:lstStyle/>
          <a:p>
            <a:pPr/>
          </a:p>
        </p:txBody>
      </p:sp>
      <p:sp>
        <p:nvSpPr>
          <p:cNvPr id="155" name="TextBox 5"/>
          <p:cNvSpPr txBox="1"/>
          <p:nvPr/>
        </p:nvSpPr>
        <p:spPr>
          <a:xfrm>
            <a:off x="772601" y="4050036"/>
            <a:ext cx="10276659" cy="15902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1800"/>
              </a:lnSpc>
              <a:defRPr b="1" spc="-847" sz="13400">
                <a:solidFill>
                  <a:srgbClr val="FFFFFF"/>
                </a:solidFill>
                <a:latin typeface="Arial Unicode Bold"/>
                <a:ea typeface="Arial Unicode Bold"/>
                <a:cs typeface="Arial Unicode Bold"/>
                <a:sym typeface="Arial Unicode Bold"/>
              </a:defRPr>
            </a:lvl1pPr>
          </a:lstStyle>
          <a:p>
            <a:pPr/>
            <a:r>
              <a:t>Methodology</a:t>
            </a:r>
          </a:p>
        </p:txBody>
      </p:sp>
    </p:spTree>
  </p:cSld>
  <p:clrMapOvr>
    <a:masterClrMapping/>
  </p:clrMapOvr>
  <mc:AlternateContent xmlns:mc="http://schemas.openxmlformats.org/markup-compatibility/2006">
    <mc:Choice xmlns:p14="http://schemas.microsoft.com/office/powerpoint/2010/main" Requires="p14">
      <p:transition spd="fast" advClick="1" p14:dur="500">
        <p:push dir="l"/>
      </p:transition>
    </mc:Choice>
    <mc:Fallback>
      <p:transition spd="fast">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31416"/>
        </a:solidFill>
      </p:bgPr>
    </p:bg>
    <p:spTree>
      <p:nvGrpSpPr>
        <p:cNvPr id="1" name=""/>
        <p:cNvGrpSpPr/>
        <p:nvPr/>
      </p:nvGrpSpPr>
      <p:grpSpPr>
        <a:xfrm>
          <a:off x="0" y="0"/>
          <a:ext cx="0" cy="0"/>
          <a:chOff x="0" y="0"/>
          <a:chExt cx="0" cy="0"/>
        </a:xfrm>
      </p:grpSpPr>
      <p:sp>
        <p:nvSpPr>
          <p:cNvPr id="157" name="Freeform 2"/>
          <p:cNvSpPr/>
          <p:nvPr/>
        </p:nvSpPr>
        <p:spPr>
          <a:xfrm rot="13777209">
            <a:off x="9909903" y="3654887"/>
            <a:ext cx="16756194" cy="16756194"/>
          </a:xfrm>
          <a:prstGeom prst="rect">
            <a:avLst/>
          </a:prstGeom>
          <a:blipFill>
            <a:blip r:embed="rId2"/>
            <a:stretch>
              <a:fillRect/>
            </a:stretch>
          </a:blipFill>
          <a:ln w="12700">
            <a:miter lim="400000"/>
          </a:ln>
        </p:spPr>
        <p:txBody>
          <a:bodyPr lIns="45719" rIns="45719"/>
          <a:lstStyle/>
          <a:p>
            <a:pPr/>
          </a:p>
        </p:txBody>
      </p:sp>
      <p:sp>
        <p:nvSpPr>
          <p:cNvPr id="158" name="Freeform 3"/>
          <p:cNvSpPr/>
          <p:nvPr/>
        </p:nvSpPr>
        <p:spPr>
          <a:xfrm>
            <a:off x="1493795" y="0"/>
            <a:ext cx="5499016" cy="10063934"/>
          </a:xfrm>
          <a:prstGeom prst="rect">
            <a:avLst/>
          </a:prstGeom>
          <a:blipFill>
            <a:blip r:embed="rId3"/>
            <a:stretch>
              <a:fillRect/>
            </a:stretch>
          </a:blipFill>
          <a:ln w="12700">
            <a:miter lim="400000"/>
          </a:ln>
        </p:spPr>
        <p:txBody>
          <a:bodyPr lIns="45719" rIns="45719"/>
          <a:lstStyle/>
          <a:p>
            <a:pPr/>
          </a:p>
        </p:txBody>
      </p:sp>
      <p:sp>
        <p:nvSpPr>
          <p:cNvPr id="159" name="TextBox 4"/>
          <p:cNvSpPr txBox="1"/>
          <p:nvPr/>
        </p:nvSpPr>
        <p:spPr>
          <a:xfrm>
            <a:off x="7330623" y="3966871"/>
            <a:ext cx="10645983" cy="170139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3900"/>
              </a:lnSpc>
              <a:defRPr b="1" sz="9900">
                <a:solidFill>
                  <a:srgbClr val="FFFFFF"/>
                </a:solidFill>
                <a:latin typeface="Canva Sans Bold"/>
                <a:ea typeface="Canva Sans Bold"/>
                <a:cs typeface="Canva Sans Bold"/>
                <a:sym typeface="Canva Sans Bold"/>
              </a:defRPr>
            </a:lvl1pPr>
          </a:lstStyle>
          <a:p>
            <a:pPr/>
            <a:r>
              <a:t>MODEL PIPELINE</a:t>
            </a:r>
          </a:p>
        </p:txBody>
      </p:sp>
    </p:spTree>
  </p:cSld>
  <p:clrMapOvr>
    <a:masterClrMapping/>
  </p:clrMapOvr>
  <mc:AlternateContent xmlns:mc="http://schemas.openxmlformats.org/markup-compatibility/2006">
    <mc:Choice xmlns:p14="http://schemas.microsoft.com/office/powerpoint/2010/main" Requires="p14">
      <p:transition spd="fast" advClick="1" p14:dur="500">
        <p:push dir="l"/>
      </p:transition>
    </mc:Choice>
    <mc:Fallback>
      <p:transition spd="fast">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31416"/>
        </a:solidFill>
      </p:bgPr>
    </p:bg>
    <p:spTree>
      <p:nvGrpSpPr>
        <p:cNvPr id="1" name=""/>
        <p:cNvGrpSpPr/>
        <p:nvPr/>
      </p:nvGrpSpPr>
      <p:grpSpPr>
        <a:xfrm>
          <a:off x="0" y="0"/>
          <a:ext cx="0" cy="0"/>
          <a:chOff x="0" y="0"/>
          <a:chExt cx="0" cy="0"/>
        </a:xfrm>
      </p:grpSpPr>
      <p:sp>
        <p:nvSpPr>
          <p:cNvPr id="161" name="Freeform 3"/>
          <p:cNvSpPr/>
          <p:nvPr/>
        </p:nvSpPr>
        <p:spPr>
          <a:xfrm>
            <a:off x="8278187" y="511976"/>
            <a:ext cx="1163770" cy="1152925"/>
          </a:xfrm>
          <a:prstGeom prst="ellipse">
            <a:avLst/>
          </a:prstGeom>
          <a:gradFill>
            <a:gsLst>
              <a:gs pos="0">
                <a:srgbClr val="ED47E6"/>
              </a:gs>
              <a:gs pos="50000">
                <a:srgbClr val="FD5EA5"/>
              </a:gs>
              <a:gs pos="100000">
                <a:srgbClr val="FFAED2"/>
              </a:gs>
            </a:gsLst>
          </a:gradFill>
          <a:ln w="12700">
            <a:miter lim="400000"/>
          </a:ln>
        </p:spPr>
        <p:txBody>
          <a:bodyPr lIns="45719" rIns="45719"/>
          <a:lstStyle/>
          <a:p>
            <a:pPr/>
          </a:p>
        </p:txBody>
      </p:sp>
      <p:sp>
        <p:nvSpPr>
          <p:cNvPr id="162" name="Freeform 6"/>
          <p:cNvSpPr/>
          <p:nvPr/>
        </p:nvSpPr>
        <p:spPr>
          <a:xfrm>
            <a:off x="8278187" y="1902606"/>
            <a:ext cx="1163770" cy="1152925"/>
          </a:xfrm>
          <a:prstGeom prst="ellipse">
            <a:avLst/>
          </a:prstGeom>
          <a:gradFill>
            <a:gsLst>
              <a:gs pos="0">
                <a:srgbClr val="131416"/>
              </a:gs>
              <a:gs pos="100000">
                <a:srgbClr val="656366"/>
              </a:gs>
            </a:gsLst>
          </a:gradFill>
          <a:ln w="12700">
            <a:miter lim="400000"/>
          </a:ln>
        </p:spPr>
        <p:txBody>
          <a:bodyPr lIns="45719" rIns="45719"/>
          <a:lstStyle/>
          <a:p>
            <a:pPr/>
          </a:p>
        </p:txBody>
      </p:sp>
      <p:sp>
        <p:nvSpPr>
          <p:cNvPr id="163" name="Freeform 9"/>
          <p:cNvSpPr/>
          <p:nvPr/>
        </p:nvSpPr>
        <p:spPr>
          <a:xfrm>
            <a:off x="8278187" y="4107963"/>
            <a:ext cx="1163770" cy="1152925"/>
          </a:xfrm>
          <a:prstGeom prst="ellipse">
            <a:avLst/>
          </a:prstGeom>
          <a:gradFill>
            <a:gsLst>
              <a:gs pos="0">
                <a:srgbClr val="7AFFE6"/>
              </a:gs>
              <a:gs pos="33333">
                <a:srgbClr val="3A8B7E"/>
              </a:gs>
              <a:gs pos="66667">
                <a:srgbClr val="131416"/>
              </a:gs>
              <a:gs pos="100000">
                <a:srgbClr val="131416"/>
              </a:gs>
            </a:gsLst>
            <a:lin ang="2700000"/>
          </a:gradFill>
          <a:ln w="12700">
            <a:miter lim="400000"/>
          </a:ln>
        </p:spPr>
        <p:txBody>
          <a:bodyPr lIns="45719" rIns="45719"/>
          <a:lstStyle/>
          <a:p>
            <a:pPr/>
          </a:p>
        </p:txBody>
      </p:sp>
      <p:sp>
        <p:nvSpPr>
          <p:cNvPr id="164" name="Freeform 11"/>
          <p:cNvSpPr/>
          <p:nvPr/>
        </p:nvSpPr>
        <p:spPr>
          <a:xfrm rot="16200000">
            <a:off x="-2301825" y="1623774"/>
            <a:ext cx="7315201" cy="2952682"/>
          </a:xfrm>
          <a:prstGeom prst="rect">
            <a:avLst/>
          </a:prstGeom>
          <a:blipFill>
            <a:blip r:embed="rId2"/>
            <a:stretch>
              <a:fillRect/>
            </a:stretch>
          </a:blipFill>
          <a:ln w="12700">
            <a:miter lim="400000"/>
          </a:ln>
        </p:spPr>
        <p:txBody>
          <a:bodyPr lIns="45719" rIns="45719"/>
          <a:lstStyle/>
          <a:p>
            <a:pPr/>
          </a:p>
        </p:txBody>
      </p:sp>
      <p:sp>
        <p:nvSpPr>
          <p:cNvPr id="165" name="Freeform 12"/>
          <p:cNvSpPr/>
          <p:nvPr/>
        </p:nvSpPr>
        <p:spPr>
          <a:xfrm rot="5400000">
            <a:off x="650856" y="3033499"/>
            <a:ext cx="7315201" cy="2952682"/>
          </a:xfrm>
          <a:prstGeom prst="rect">
            <a:avLst/>
          </a:prstGeom>
          <a:blipFill>
            <a:blip r:embed="rId2"/>
            <a:stretch>
              <a:fillRect/>
            </a:stretch>
          </a:blipFill>
          <a:ln w="12700">
            <a:miter lim="400000"/>
          </a:ln>
        </p:spPr>
        <p:txBody>
          <a:bodyPr lIns="45719" rIns="45719"/>
          <a:lstStyle/>
          <a:p>
            <a:pPr/>
          </a:p>
        </p:txBody>
      </p:sp>
      <p:sp>
        <p:nvSpPr>
          <p:cNvPr id="166" name="TextBox 13"/>
          <p:cNvSpPr txBox="1"/>
          <p:nvPr/>
        </p:nvSpPr>
        <p:spPr>
          <a:xfrm>
            <a:off x="461875" y="2008558"/>
            <a:ext cx="7816314" cy="118615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8800"/>
              </a:lnSpc>
              <a:defRPr b="1" spc="-633" sz="10000">
                <a:solidFill>
                  <a:srgbClr val="FFFFFF"/>
                </a:solidFill>
                <a:latin typeface="Arial Unicode Bold"/>
                <a:ea typeface="Arial Unicode Bold"/>
                <a:cs typeface="Arial Unicode Bold"/>
                <a:sym typeface="Arial Unicode Bold"/>
              </a:defRPr>
            </a:lvl1pPr>
          </a:lstStyle>
          <a:p>
            <a:pPr/>
            <a:r>
              <a:t>Methodology</a:t>
            </a:r>
          </a:p>
        </p:txBody>
      </p:sp>
      <p:sp>
        <p:nvSpPr>
          <p:cNvPr id="167" name="TextBox 14"/>
          <p:cNvSpPr txBox="1"/>
          <p:nvPr/>
        </p:nvSpPr>
        <p:spPr>
          <a:xfrm>
            <a:off x="8487368" y="863013"/>
            <a:ext cx="745409" cy="5930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4400"/>
              </a:lnSpc>
              <a:defRPr b="1" spc="-315" sz="5000">
                <a:latin typeface="Arial Unicode Bold"/>
                <a:ea typeface="Arial Unicode Bold"/>
                <a:cs typeface="Arial Unicode Bold"/>
                <a:sym typeface="Arial Unicode Bold"/>
              </a:defRPr>
            </a:lvl1pPr>
          </a:lstStyle>
          <a:p>
            <a:pPr/>
            <a:r>
              <a:t>1</a:t>
            </a:r>
          </a:p>
        </p:txBody>
      </p:sp>
      <p:sp>
        <p:nvSpPr>
          <p:cNvPr id="168" name="TextBox 15"/>
          <p:cNvSpPr txBox="1"/>
          <p:nvPr/>
        </p:nvSpPr>
        <p:spPr>
          <a:xfrm>
            <a:off x="9721153" y="996123"/>
            <a:ext cx="7858957" cy="11671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97252" indent="-248626">
              <a:lnSpc>
                <a:spcPts val="2300"/>
              </a:lnSpc>
              <a:buSzPct val="100000"/>
              <a:buFont typeface="Arial"/>
              <a:buChar char="•"/>
              <a:defRPr sz="2300">
                <a:solidFill>
                  <a:srgbClr val="FFFFFF"/>
                </a:solidFill>
                <a:latin typeface="Arial Unicode"/>
                <a:ea typeface="Arial Unicode"/>
                <a:cs typeface="Arial Unicode"/>
                <a:sym typeface="Arial Unicode"/>
              </a:defRPr>
            </a:pPr>
            <a:r>
              <a:t>Read company-wise bank statements from Excel files</a:t>
            </a:r>
          </a:p>
          <a:p>
            <a:pPr lvl="1" marL="497252" indent="-248626">
              <a:lnSpc>
                <a:spcPts val="2300"/>
              </a:lnSpc>
              <a:buSzPct val="100000"/>
              <a:buFont typeface="Arial"/>
              <a:buChar char="•"/>
              <a:defRPr sz="2300">
                <a:solidFill>
                  <a:srgbClr val="FFFFFF"/>
                </a:solidFill>
                <a:latin typeface="Arial Unicode"/>
                <a:ea typeface="Arial Unicode"/>
                <a:cs typeface="Arial Unicode"/>
                <a:sym typeface="Arial Unicode"/>
              </a:defRPr>
            </a:pPr>
            <a:r>
              <a:t>Read department-wise records from separate Excel sheets</a:t>
            </a:r>
          </a:p>
        </p:txBody>
      </p:sp>
      <p:sp>
        <p:nvSpPr>
          <p:cNvPr id="169" name="TextBox 16"/>
          <p:cNvSpPr txBox="1"/>
          <p:nvPr/>
        </p:nvSpPr>
        <p:spPr>
          <a:xfrm>
            <a:off x="8487368" y="2253644"/>
            <a:ext cx="745409" cy="5930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4400"/>
              </a:lnSpc>
              <a:defRPr b="1" spc="-315" sz="5000">
                <a:solidFill>
                  <a:srgbClr val="FFFFFF"/>
                </a:solidFill>
                <a:latin typeface="Arial Unicode Bold"/>
                <a:ea typeface="Arial Unicode Bold"/>
                <a:cs typeface="Arial Unicode Bold"/>
                <a:sym typeface="Arial Unicode Bold"/>
              </a:defRPr>
            </a:lvl1pPr>
          </a:lstStyle>
          <a:p>
            <a:pPr/>
            <a:r>
              <a:t>2</a:t>
            </a:r>
          </a:p>
        </p:txBody>
      </p:sp>
      <p:sp>
        <p:nvSpPr>
          <p:cNvPr id="170" name="TextBox 17"/>
          <p:cNvSpPr txBox="1"/>
          <p:nvPr/>
        </p:nvSpPr>
        <p:spPr>
          <a:xfrm>
            <a:off x="8487368" y="4459001"/>
            <a:ext cx="745409" cy="5930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4400"/>
              </a:lnSpc>
              <a:defRPr b="1" spc="-315" sz="5000">
                <a:solidFill>
                  <a:srgbClr val="FFFFFF"/>
                </a:solidFill>
                <a:latin typeface="Arial Unicode Bold"/>
                <a:ea typeface="Arial Unicode Bold"/>
                <a:cs typeface="Arial Unicode Bold"/>
                <a:sym typeface="Arial Unicode Bold"/>
              </a:defRPr>
            </a:lvl1pPr>
          </a:lstStyle>
          <a:p>
            <a:pPr/>
            <a:r>
              <a:t>3</a:t>
            </a:r>
          </a:p>
        </p:txBody>
      </p:sp>
      <p:sp>
        <p:nvSpPr>
          <p:cNvPr id="171" name="TextBox 18"/>
          <p:cNvSpPr txBox="1"/>
          <p:nvPr/>
        </p:nvSpPr>
        <p:spPr>
          <a:xfrm>
            <a:off x="9721153" y="453817"/>
            <a:ext cx="5389182" cy="3793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900"/>
              </a:lnSpc>
              <a:defRPr b="1" sz="2900">
                <a:solidFill>
                  <a:srgbClr val="FFFFFF"/>
                </a:solidFill>
                <a:latin typeface="Arial Unicode Bold"/>
                <a:ea typeface="Arial Unicode Bold"/>
                <a:cs typeface="Arial Unicode Bold"/>
                <a:sym typeface="Arial Unicode Bold"/>
              </a:defRPr>
            </a:lvl1pPr>
          </a:lstStyle>
          <a:p>
            <a:pPr/>
            <a:r>
              <a:t>Data Input</a:t>
            </a:r>
          </a:p>
        </p:txBody>
      </p:sp>
      <p:sp>
        <p:nvSpPr>
          <p:cNvPr id="172" name="TextBox 19"/>
          <p:cNvSpPr txBox="1"/>
          <p:nvPr/>
        </p:nvSpPr>
        <p:spPr>
          <a:xfrm>
            <a:off x="9721153" y="2839789"/>
            <a:ext cx="7858957" cy="11671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97252" indent="-248626">
              <a:lnSpc>
                <a:spcPts val="2300"/>
              </a:lnSpc>
              <a:buSzPct val="100000"/>
              <a:buFont typeface="Arial"/>
              <a:buChar char="•"/>
              <a:defRPr sz="2300">
                <a:solidFill>
                  <a:srgbClr val="FFFFFF"/>
                </a:solidFill>
                <a:latin typeface="Arial Unicode"/>
                <a:ea typeface="Arial Unicode"/>
                <a:cs typeface="Arial Unicode"/>
                <a:sym typeface="Arial Unicode"/>
              </a:defRPr>
            </a:pPr>
            <a:r>
              <a:t>Loop through each company (For Each companyName)</a:t>
            </a:r>
          </a:p>
          <a:p>
            <a:pPr lvl="1" marL="497252" indent="-248626">
              <a:lnSpc>
                <a:spcPts val="2300"/>
              </a:lnSpc>
              <a:buSzPct val="100000"/>
              <a:buFont typeface="Arial"/>
              <a:buChar char="•"/>
              <a:defRPr sz="2300">
                <a:solidFill>
                  <a:srgbClr val="FFFFFF"/>
                </a:solidFill>
                <a:latin typeface="Arial Unicode"/>
                <a:ea typeface="Arial Unicode"/>
                <a:cs typeface="Arial Unicode"/>
                <a:sym typeface="Arial Unicode"/>
              </a:defRPr>
            </a:pPr>
            <a:r>
              <a:t>Loop through each department (For Each currentText)</a:t>
            </a:r>
          </a:p>
          <a:p>
            <a:pPr lvl="1" marL="497252" indent="-248626">
              <a:lnSpc>
                <a:spcPts val="2300"/>
              </a:lnSpc>
              <a:buSzPct val="100000"/>
              <a:buFont typeface="Arial"/>
              <a:buChar char="•"/>
              <a:defRPr sz="2300">
                <a:solidFill>
                  <a:srgbClr val="FFFFFF"/>
                </a:solidFill>
                <a:latin typeface="Arial Unicode"/>
                <a:ea typeface="Arial Unicode"/>
                <a:cs typeface="Arial Unicode"/>
                <a:sym typeface="Arial Unicode"/>
              </a:defRPr>
            </a:pPr>
            <a:r>
              <a:t>Merge department data into a consolidated table</a:t>
            </a:r>
          </a:p>
        </p:txBody>
      </p:sp>
      <p:sp>
        <p:nvSpPr>
          <p:cNvPr id="173" name="TextBox 20"/>
          <p:cNvSpPr txBox="1"/>
          <p:nvPr/>
        </p:nvSpPr>
        <p:spPr>
          <a:xfrm>
            <a:off x="9721153" y="2308848"/>
            <a:ext cx="5389182" cy="3793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900"/>
              </a:lnSpc>
              <a:defRPr b="1" sz="2900">
                <a:solidFill>
                  <a:srgbClr val="FFFFFF"/>
                </a:solidFill>
                <a:latin typeface="Arial Unicode Bold"/>
                <a:ea typeface="Arial Unicode Bold"/>
                <a:cs typeface="Arial Unicode Bold"/>
                <a:sym typeface="Arial Unicode Bold"/>
              </a:defRPr>
            </a:lvl1pPr>
          </a:lstStyle>
          <a:p>
            <a:pPr/>
            <a:r>
              <a:t>Data Processing</a:t>
            </a:r>
          </a:p>
        </p:txBody>
      </p:sp>
      <p:sp>
        <p:nvSpPr>
          <p:cNvPr id="174" name="TextBox 21"/>
          <p:cNvSpPr txBox="1"/>
          <p:nvPr/>
        </p:nvSpPr>
        <p:spPr>
          <a:xfrm>
            <a:off x="9721153" y="4592111"/>
            <a:ext cx="7858957" cy="20434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96570" indent="-248284">
              <a:lnSpc>
                <a:spcPts val="2300"/>
              </a:lnSpc>
              <a:buSzPct val="100000"/>
              <a:buFont typeface="Arial"/>
              <a:buChar char="•"/>
              <a:defRPr sz="2300">
                <a:solidFill>
                  <a:srgbClr val="FFFFFF"/>
                </a:solidFill>
                <a:latin typeface="Arial Unicode"/>
                <a:ea typeface="Arial Unicode"/>
                <a:cs typeface="Arial Unicode"/>
                <a:sym typeface="Arial Unicode"/>
              </a:defRPr>
            </a:pPr>
            <a:r>
              <a:t>Iterate through each bank transaction</a:t>
            </a:r>
          </a:p>
          <a:p>
            <a:pPr lvl="1" marL="496570" indent="-248284">
              <a:lnSpc>
                <a:spcPts val="2300"/>
              </a:lnSpc>
              <a:buSzPct val="100000"/>
              <a:buFont typeface="Arial"/>
              <a:buChar char="•"/>
              <a:defRPr sz="2300">
                <a:solidFill>
                  <a:srgbClr val="FFFFFF"/>
                </a:solidFill>
                <a:latin typeface="Arial Unicode"/>
                <a:ea typeface="Arial Unicode"/>
                <a:cs typeface="Arial Unicode"/>
                <a:sym typeface="Arial Unicode"/>
              </a:defRPr>
            </a:pPr>
            <a:r>
              <a:t>Identify department based on transaction description</a:t>
            </a:r>
          </a:p>
          <a:p>
            <a:pPr lvl="1" marL="496570" indent="-248284">
              <a:lnSpc>
                <a:spcPts val="2300"/>
              </a:lnSpc>
              <a:buSzPct val="100000"/>
              <a:buFont typeface="Arial"/>
              <a:buChar char="•"/>
              <a:defRPr sz="2300">
                <a:solidFill>
                  <a:srgbClr val="FFFFFF"/>
                </a:solidFill>
                <a:latin typeface="Arial Unicode"/>
                <a:ea typeface="Arial Unicode"/>
                <a:cs typeface="Arial Unicode"/>
                <a:sym typeface="Arial Unicode"/>
              </a:defRPr>
            </a:pPr>
            <a:r>
              <a:t>Match bank data with department records using:</a:t>
            </a:r>
          </a:p>
          <a:p>
            <a:pPr lvl="2" marL="993141" indent="-331046">
              <a:lnSpc>
                <a:spcPts val="2300"/>
              </a:lnSpc>
              <a:buSzPct val="100000"/>
              <a:buFont typeface="Arial"/>
              <a:buChar char="⚬"/>
              <a:defRPr sz="2300">
                <a:solidFill>
                  <a:srgbClr val="FFFFFF"/>
                </a:solidFill>
                <a:latin typeface="Arial Unicode"/>
                <a:ea typeface="Arial Unicode"/>
                <a:cs typeface="Arial Unicode"/>
                <a:sym typeface="Arial Unicode"/>
              </a:defRPr>
            </a:pPr>
            <a:r>
              <a:t>Amount (CR/DR)</a:t>
            </a:r>
          </a:p>
          <a:p>
            <a:pPr lvl="2" marL="993141" indent="-331046">
              <a:lnSpc>
                <a:spcPts val="2300"/>
              </a:lnSpc>
              <a:buSzPct val="100000"/>
              <a:buFont typeface="Arial"/>
              <a:buChar char="⚬"/>
              <a:defRPr sz="2300">
                <a:solidFill>
                  <a:srgbClr val="FFFFFF"/>
                </a:solidFill>
                <a:latin typeface="Arial Unicode"/>
                <a:ea typeface="Arial Unicode"/>
                <a:cs typeface="Arial Unicode"/>
                <a:sym typeface="Arial Unicode"/>
              </a:defRPr>
            </a:pPr>
            <a:r>
              <a:t>Description</a:t>
            </a:r>
          </a:p>
          <a:p>
            <a:pPr lvl="2" marL="993141" indent="-331046">
              <a:lnSpc>
                <a:spcPts val="2300"/>
              </a:lnSpc>
              <a:buSzPct val="100000"/>
              <a:buFont typeface="Arial"/>
              <a:buChar char="⚬"/>
              <a:defRPr sz="2300">
                <a:solidFill>
                  <a:srgbClr val="FFFFFF"/>
                </a:solidFill>
                <a:latin typeface="Arial Unicode"/>
                <a:ea typeface="Arial Unicode"/>
                <a:cs typeface="Arial Unicode"/>
                <a:sym typeface="Arial Unicode"/>
              </a:defRPr>
            </a:pPr>
            <a:r>
              <a:t>Department</a:t>
            </a:r>
          </a:p>
        </p:txBody>
      </p:sp>
      <p:sp>
        <p:nvSpPr>
          <p:cNvPr id="175" name="TextBox 22"/>
          <p:cNvSpPr txBox="1"/>
          <p:nvPr/>
        </p:nvSpPr>
        <p:spPr>
          <a:xfrm>
            <a:off x="9721153" y="4146063"/>
            <a:ext cx="5389182" cy="3793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900"/>
              </a:lnSpc>
              <a:defRPr b="1" sz="2900">
                <a:solidFill>
                  <a:srgbClr val="FFFFFF"/>
                </a:solidFill>
                <a:latin typeface="Arial Unicode Bold"/>
                <a:ea typeface="Arial Unicode Bold"/>
                <a:cs typeface="Arial Unicode Bold"/>
                <a:sym typeface="Arial Unicode Bold"/>
              </a:defRPr>
            </a:lvl1pPr>
          </a:lstStyle>
          <a:p>
            <a:pPr/>
            <a:r>
              <a:t>Data Comparison</a:t>
            </a:r>
          </a:p>
        </p:txBody>
      </p:sp>
      <p:sp>
        <p:nvSpPr>
          <p:cNvPr id="176" name="Freeform 24"/>
          <p:cNvSpPr/>
          <p:nvPr/>
        </p:nvSpPr>
        <p:spPr>
          <a:xfrm>
            <a:off x="8341853" y="6622205"/>
            <a:ext cx="1152925" cy="1152925"/>
          </a:xfrm>
          <a:prstGeom prst="ellipse">
            <a:avLst/>
          </a:prstGeom>
          <a:gradFill>
            <a:gsLst>
              <a:gs pos="0">
                <a:srgbClr val="ED47E6"/>
              </a:gs>
              <a:gs pos="50000">
                <a:srgbClr val="FD5EA5"/>
              </a:gs>
              <a:gs pos="100000">
                <a:srgbClr val="FFAED2"/>
              </a:gs>
            </a:gsLst>
          </a:gradFill>
          <a:ln w="12700">
            <a:miter lim="400000"/>
          </a:ln>
        </p:spPr>
        <p:txBody>
          <a:bodyPr lIns="45719" rIns="45719"/>
          <a:lstStyle/>
          <a:p>
            <a:pPr/>
          </a:p>
        </p:txBody>
      </p:sp>
      <p:sp>
        <p:nvSpPr>
          <p:cNvPr id="177" name="TextBox 26"/>
          <p:cNvSpPr txBox="1"/>
          <p:nvPr/>
        </p:nvSpPr>
        <p:spPr>
          <a:xfrm>
            <a:off x="8549085" y="6973243"/>
            <a:ext cx="738463" cy="5930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4400"/>
              </a:lnSpc>
              <a:defRPr b="1" spc="-315" sz="5000">
                <a:latin typeface="Arial Unicode Bold"/>
                <a:ea typeface="Arial Unicode Bold"/>
                <a:cs typeface="Arial Unicode Bold"/>
                <a:sym typeface="Arial Unicode Bold"/>
              </a:defRPr>
            </a:lvl1pPr>
          </a:lstStyle>
          <a:p>
            <a:pPr/>
            <a:r>
              <a:t>4</a:t>
            </a:r>
          </a:p>
        </p:txBody>
      </p:sp>
      <p:sp>
        <p:nvSpPr>
          <p:cNvPr id="178" name="TextBox 27"/>
          <p:cNvSpPr txBox="1"/>
          <p:nvPr/>
        </p:nvSpPr>
        <p:spPr>
          <a:xfrm>
            <a:off x="9771373" y="7106353"/>
            <a:ext cx="7487927" cy="14592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96570" indent="-248284">
              <a:lnSpc>
                <a:spcPts val="2300"/>
              </a:lnSpc>
              <a:buSzPct val="100000"/>
              <a:buFont typeface="Arial"/>
              <a:buChar char="•"/>
              <a:defRPr sz="2300">
                <a:solidFill>
                  <a:srgbClr val="FFFFFF"/>
                </a:solidFill>
                <a:latin typeface="Arial Unicode"/>
                <a:ea typeface="Arial Unicode"/>
                <a:cs typeface="Arial Unicode"/>
                <a:sym typeface="Arial Unicode"/>
              </a:defRPr>
            </a:pPr>
            <a:r>
              <a:t>If no match → “Missing in company”</a:t>
            </a:r>
          </a:p>
          <a:p>
            <a:pPr lvl="1" marL="496570" indent="-248284">
              <a:lnSpc>
                <a:spcPts val="2300"/>
              </a:lnSpc>
              <a:buSzPct val="100000"/>
              <a:buFont typeface="Arial"/>
              <a:buChar char="•"/>
              <a:defRPr sz="2300">
                <a:solidFill>
                  <a:srgbClr val="FFFFFF"/>
                </a:solidFill>
                <a:latin typeface="Arial Unicode"/>
                <a:ea typeface="Arial Unicode"/>
                <a:cs typeface="Arial Unicode"/>
                <a:sym typeface="Arial Unicode"/>
              </a:defRPr>
            </a:pPr>
            <a:r>
              <a:t>If match found:</a:t>
            </a:r>
          </a:p>
          <a:p>
            <a:pPr lvl="2" marL="993141" indent="-331046">
              <a:lnSpc>
                <a:spcPts val="2300"/>
              </a:lnSpc>
              <a:buSzPct val="100000"/>
              <a:buFont typeface="Arial"/>
              <a:buChar char="⚬"/>
              <a:defRPr sz="2300">
                <a:solidFill>
                  <a:srgbClr val="FFFFFF"/>
                </a:solidFill>
                <a:latin typeface="Arial Unicode"/>
                <a:ea typeface="Arial Unicode"/>
                <a:cs typeface="Arial Unicode"/>
                <a:sym typeface="Arial Unicode"/>
              </a:defRPr>
            </a:pPr>
            <a:r>
              <a:t>If amount matches - “Matched”</a:t>
            </a:r>
          </a:p>
          <a:p>
            <a:pPr lvl="2" marL="993141" indent="-331046">
              <a:lnSpc>
                <a:spcPts val="2300"/>
              </a:lnSpc>
              <a:buSzPct val="100000"/>
              <a:buFont typeface="Arial"/>
              <a:buChar char="⚬"/>
              <a:defRPr sz="2300">
                <a:solidFill>
                  <a:srgbClr val="FFFFFF"/>
                </a:solidFill>
                <a:latin typeface="Arial Unicode"/>
                <a:ea typeface="Arial Unicode"/>
                <a:cs typeface="Arial Unicode"/>
                <a:sym typeface="Arial Unicode"/>
              </a:defRPr>
            </a:pPr>
            <a:r>
              <a:t>Else - “Amount mismatch”</a:t>
            </a:r>
          </a:p>
        </p:txBody>
      </p:sp>
      <p:sp>
        <p:nvSpPr>
          <p:cNvPr id="179" name="TextBox 28"/>
          <p:cNvSpPr txBox="1"/>
          <p:nvPr/>
        </p:nvSpPr>
        <p:spPr>
          <a:xfrm>
            <a:off x="9771373" y="6660305"/>
            <a:ext cx="5338963" cy="3793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900"/>
              </a:lnSpc>
              <a:defRPr b="1" sz="2900">
                <a:solidFill>
                  <a:srgbClr val="FFFFFF"/>
                </a:solidFill>
                <a:latin typeface="Arial Unicode Bold"/>
                <a:ea typeface="Arial Unicode Bold"/>
                <a:cs typeface="Arial Unicode Bold"/>
                <a:sym typeface="Arial Unicode Bold"/>
              </a:defRPr>
            </a:lvl1pPr>
          </a:lstStyle>
          <a:p>
            <a:pPr/>
            <a:r>
              <a:t>Decision Logic</a:t>
            </a:r>
          </a:p>
        </p:txBody>
      </p:sp>
      <p:sp>
        <p:nvSpPr>
          <p:cNvPr id="180" name="Freeform 30"/>
          <p:cNvSpPr/>
          <p:nvPr/>
        </p:nvSpPr>
        <p:spPr>
          <a:xfrm>
            <a:off x="8278187" y="8413305"/>
            <a:ext cx="1163770" cy="1152925"/>
          </a:xfrm>
          <a:prstGeom prst="ellipse">
            <a:avLst/>
          </a:prstGeom>
          <a:gradFill>
            <a:gsLst>
              <a:gs pos="0">
                <a:srgbClr val="7AFFE6"/>
              </a:gs>
              <a:gs pos="33333">
                <a:srgbClr val="3A8B7E"/>
              </a:gs>
              <a:gs pos="66667">
                <a:srgbClr val="131416"/>
              </a:gs>
              <a:gs pos="100000">
                <a:srgbClr val="131416"/>
              </a:gs>
            </a:gsLst>
            <a:lin ang="2700000"/>
          </a:gradFill>
          <a:ln w="12700">
            <a:miter lim="400000"/>
          </a:ln>
        </p:spPr>
        <p:txBody>
          <a:bodyPr lIns="45719" rIns="45719"/>
          <a:lstStyle/>
          <a:p>
            <a:pPr/>
          </a:p>
        </p:txBody>
      </p:sp>
      <p:sp>
        <p:nvSpPr>
          <p:cNvPr id="181" name="TextBox 32"/>
          <p:cNvSpPr txBox="1"/>
          <p:nvPr/>
        </p:nvSpPr>
        <p:spPr>
          <a:xfrm>
            <a:off x="8487368" y="8764343"/>
            <a:ext cx="745409" cy="5930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4400"/>
              </a:lnSpc>
              <a:defRPr b="1" spc="-315" sz="5000">
                <a:solidFill>
                  <a:srgbClr val="FFFFFF"/>
                </a:solidFill>
                <a:latin typeface="Arial Unicode Bold"/>
                <a:ea typeface="Arial Unicode Bold"/>
                <a:cs typeface="Arial Unicode Bold"/>
                <a:sym typeface="Arial Unicode Bold"/>
              </a:defRPr>
            </a:lvl1pPr>
          </a:lstStyle>
          <a:p>
            <a:pPr/>
            <a:r>
              <a:t>5</a:t>
            </a:r>
          </a:p>
        </p:txBody>
      </p:sp>
      <p:sp>
        <p:nvSpPr>
          <p:cNvPr id="182" name="TextBox 33"/>
          <p:cNvSpPr txBox="1"/>
          <p:nvPr/>
        </p:nvSpPr>
        <p:spPr>
          <a:xfrm>
            <a:off x="9721153" y="8897453"/>
            <a:ext cx="7858957" cy="8750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96570" indent="-248284">
              <a:lnSpc>
                <a:spcPts val="2300"/>
              </a:lnSpc>
              <a:buSzPct val="100000"/>
              <a:buFont typeface="Arial"/>
              <a:buChar char="•"/>
              <a:defRPr sz="2300">
                <a:solidFill>
                  <a:srgbClr val="FFFFFF"/>
                </a:solidFill>
                <a:latin typeface="Arial Unicode"/>
                <a:ea typeface="Arial Unicode"/>
                <a:cs typeface="Arial Unicode"/>
                <a:sym typeface="Arial Unicode"/>
              </a:defRPr>
            </a:pPr>
            <a:r>
              <a:t>Store results in a report DataTable (dtReport)</a:t>
            </a:r>
          </a:p>
          <a:p>
            <a:pPr lvl="1" marL="496570" indent="-248284">
              <a:lnSpc>
                <a:spcPts val="2300"/>
              </a:lnSpc>
              <a:buSzPct val="100000"/>
              <a:buFont typeface="Arial"/>
              <a:buChar char="•"/>
              <a:defRPr sz="2300">
                <a:solidFill>
                  <a:srgbClr val="FFFFFF"/>
                </a:solidFill>
                <a:latin typeface="Arial Unicode"/>
                <a:ea typeface="Arial Unicode"/>
                <a:cs typeface="Arial Unicode"/>
                <a:sym typeface="Arial Unicode"/>
              </a:defRPr>
            </a:pPr>
            <a:r>
              <a:t>Write final reconciliation report to Excel</a:t>
            </a:r>
          </a:p>
        </p:txBody>
      </p:sp>
      <p:sp>
        <p:nvSpPr>
          <p:cNvPr id="183" name="TextBox 34"/>
          <p:cNvSpPr txBox="1"/>
          <p:nvPr/>
        </p:nvSpPr>
        <p:spPr>
          <a:xfrm>
            <a:off x="9721153" y="8451405"/>
            <a:ext cx="5389182" cy="3793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900"/>
              </a:lnSpc>
              <a:defRPr b="1" sz="2900">
                <a:solidFill>
                  <a:srgbClr val="FFFFFF"/>
                </a:solidFill>
                <a:latin typeface="Arial Unicode Bold"/>
                <a:ea typeface="Arial Unicode Bold"/>
                <a:cs typeface="Arial Unicode Bold"/>
                <a:sym typeface="Arial Unicode Bold"/>
              </a:defRPr>
            </a:lvl1pPr>
          </a:lstStyle>
          <a:p>
            <a:pPr/>
            <a:r>
              <a:t>Output Generation</a:t>
            </a:r>
          </a:p>
        </p:txBody>
      </p:sp>
    </p:spTree>
  </p:cSld>
  <p:clrMapOvr>
    <a:masterClrMapping/>
  </p:clrMapOvr>
  <mc:AlternateContent xmlns:mc="http://schemas.openxmlformats.org/markup-compatibility/2006">
    <mc:Choice xmlns:p14="http://schemas.microsoft.com/office/powerpoint/2010/main" Requires="p14">
      <p:transition spd="fast" advClick="1" p14:dur="500">
        <p:push dir="l"/>
      </p:transition>
    </mc:Choice>
    <mc:Fallback>
      <p:transition spd="fast">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31416"/>
        </a:solidFill>
      </p:bgPr>
    </p:bg>
    <p:spTree>
      <p:nvGrpSpPr>
        <p:cNvPr id="1" name=""/>
        <p:cNvGrpSpPr/>
        <p:nvPr/>
      </p:nvGrpSpPr>
      <p:grpSpPr>
        <a:xfrm>
          <a:off x="0" y="0"/>
          <a:ext cx="0" cy="0"/>
          <a:chOff x="0" y="0"/>
          <a:chExt cx="0" cy="0"/>
        </a:xfrm>
      </p:grpSpPr>
      <p:sp>
        <p:nvSpPr>
          <p:cNvPr id="185" name="Freeform 3"/>
          <p:cNvSpPr/>
          <p:nvPr/>
        </p:nvSpPr>
        <p:spPr>
          <a:xfrm>
            <a:off x="0" y="-954751"/>
            <a:ext cx="18288001" cy="16153151"/>
          </a:xfrm>
          <a:prstGeom prst="ellipse">
            <a:avLst/>
          </a:prstGeom>
          <a:ln w="19050" cap="sq">
            <a:solidFill>
              <a:srgbClr val="95ABF8"/>
            </a:solidFill>
            <a:miter/>
          </a:ln>
        </p:spPr>
        <p:txBody>
          <a:bodyPr lIns="45719" rIns="45719"/>
          <a:lstStyle/>
          <a:p>
            <a:pPr/>
          </a:p>
        </p:txBody>
      </p:sp>
      <p:sp>
        <p:nvSpPr>
          <p:cNvPr id="186" name="Freeform 6"/>
          <p:cNvSpPr/>
          <p:nvPr/>
        </p:nvSpPr>
        <p:spPr>
          <a:xfrm>
            <a:off x="372185" y="-1"/>
            <a:ext cx="17686878" cy="14402220"/>
          </a:xfrm>
          <a:prstGeom prst="ellipse">
            <a:avLst/>
          </a:prstGeom>
          <a:ln w="19050" cap="sq">
            <a:solidFill>
              <a:srgbClr val="73C2E7"/>
            </a:solidFill>
            <a:miter/>
          </a:ln>
        </p:spPr>
        <p:txBody>
          <a:bodyPr lIns="45719" rIns="45719"/>
          <a:lstStyle/>
          <a:p>
            <a:pPr/>
          </a:p>
        </p:txBody>
      </p:sp>
      <p:sp>
        <p:nvSpPr>
          <p:cNvPr id="187" name="Freeform 8"/>
          <p:cNvSpPr/>
          <p:nvPr/>
        </p:nvSpPr>
        <p:spPr>
          <a:xfrm rot="13777209">
            <a:off x="9909903" y="3654887"/>
            <a:ext cx="16756194" cy="16756194"/>
          </a:xfrm>
          <a:prstGeom prst="rect">
            <a:avLst/>
          </a:prstGeom>
          <a:blipFill>
            <a:blip r:embed="rId2"/>
            <a:stretch>
              <a:fillRect/>
            </a:stretch>
          </a:blipFill>
          <a:ln w="12700">
            <a:miter lim="400000"/>
          </a:ln>
        </p:spPr>
        <p:txBody>
          <a:bodyPr lIns="45719" rIns="45719"/>
          <a:lstStyle/>
          <a:p>
            <a:pPr/>
          </a:p>
        </p:txBody>
      </p:sp>
      <p:sp>
        <p:nvSpPr>
          <p:cNvPr id="188" name="Freeform 10"/>
          <p:cNvSpPr/>
          <p:nvPr/>
        </p:nvSpPr>
        <p:spPr>
          <a:xfrm>
            <a:off x="915304" y="392041"/>
            <a:ext cx="16727971" cy="12720951"/>
          </a:xfrm>
          <a:prstGeom prst="ellipse">
            <a:avLst/>
          </a:prstGeom>
          <a:ln w="19050" cap="sq">
            <a:solidFill>
              <a:srgbClr val="F67BDC"/>
            </a:solidFill>
            <a:miter/>
          </a:ln>
        </p:spPr>
        <p:txBody>
          <a:bodyPr lIns="45719" rIns="45719"/>
          <a:lstStyle/>
          <a:p>
            <a:pPr/>
          </a:p>
        </p:txBody>
      </p:sp>
      <p:sp>
        <p:nvSpPr>
          <p:cNvPr id="189" name="TextBox 12"/>
          <p:cNvSpPr txBox="1"/>
          <p:nvPr/>
        </p:nvSpPr>
        <p:spPr>
          <a:xfrm>
            <a:off x="3270829" y="2503501"/>
            <a:ext cx="12255667" cy="68922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just">
              <a:lnSpc>
                <a:spcPts val="3900"/>
              </a:lnSpc>
              <a:defRPr sz="2700">
                <a:solidFill>
                  <a:srgbClr val="FFFFFF"/>
                </a:solidFill>
                <a:latin typeface="Canva Sans"/>
                <a:ea typeface="Canva Sans"/>
                <a:cs typeface="Canva Sans"/>
                <a:sym typeface="Canva Sans"/>
              </a:defRPr>
            </a:pPr>
            <a:r>
              <a:t>The methodology follows a structured pipeline implemented in UiPath Studio. The solution is designed using a modular multi-file architecture, where the main workflow orchestrates the complete reconciliation process, and reusable components handle specific tasks such as reading data, processing transactions, and writing results. The workflow iterates through multiple company files and department datasets, ensuring scalability and efficient handling of large volumes of financial data.</a:t>
            </a:r>
          </a:p>
          <a:p>
            <a:pPr algn="just">
              <a:lnSpc>
                <a:spcPts val="3900"/>
              </a:lnSpc>
              <a:defRPr sz="2700">
                <a:solidFill>
                  <a:srgbClr val="FFFFFF"/>
                </a:solidFill>
                <a:latin typeface="Canva Sans"/>
                <a:ea typeface="Canva Sans"/>
                <a:cs typeface="Canva Sans"/>
                <a:sym typeface="Canva Sans"/>
              </a:defRPr>
            </a:pPr>
            <a:r>
              <a:t>The datasets are divided into two primary sources. The bank statement files (Bank.xlsx) contain transaction-level details such as date, description, debit/credit amounts, and reference information. The department-wise Excel files represent internal records, including department name, transaction details, descriptions, and corresponding debit/credit values. These datasets are dynamically read and processed for each company and department.</a:t>
            </a:r>
          </a:p>
        </p:txBody>
      </p:sp>
    </p:spTree>
  </p:cSld>
  <p:clrMapOvr>
    <a:masterClrMapping/>
  </p:clrMapOvr>
  <mc:AlternateContent xmlns:mc="http://schemas.openxmlformats.org/markup-compatibility/2006">
    <mc:Choice xmlns:p14="http://schemas.microsoft.com/office/powerpoint/2010/main" Requires="p14">
      <p:transition spd="fast" advClick="1" p14:dur="500">
        <p:push dir="l"/>
      </p:transition>
    </mc:Choice>
    <mc:Fallback>
      <p:transition spd="fast">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31416"/>
        </a:solidFill>
      </p:bgPr>
    </p:bg>
    <p:spTree>
      <p:nvGrpSpPr>
        <p:cNvPr id="1" name=""/>
        <p:cNvGrpSpPr/>
        <p:nvPr/>
      </p:nvGrpSpPr>
      <p:grpSpPr>
        <a:xfrm>
          <a:off x="0" y="0"/>
          <a:ext cx="0" cy="0"/>
          <a:chOff x="0" y="0"/>
          <a:chExt cx="0" cy="0"/>
        </a:xfrm>
      </p:grpSpPr>
      <p:sp>
        <p:nvSpPr>
          <p:cNvPr id="191" name="Freeform 2"/>
          <p:cNvSpPr/>
          <p:nvPr/>
        </p:nvSpPr>
        <p:spPr>
          <a:xfrm flipH="1" flipV="1">
            <a:off x="12146395" y="5680855"/>
            <a:ext cx="7424702" cy="6385244"/>
          </a:xfrm>
          <a:prstGeom prst="rect">
            <a:avLst/>
          </a:prstGeom>
          <a:blipFill>
            <a:blip r:embed="rId2"/>
            <a:stretch>
              <a:fillRect/>
            </a:stretch>
          </a:blipFill>
          <a:ln w="12700">
            <a:miter lim="400000"/>
          </a:ln>
        </p:spPr>
        <p:txBody>
          <a:bodyPr lIns="45719" rIns="45719"/>
          <a:lstStyle/>
          <a:p>
            <a:pPr/>
          </a:p>
        </p:txBody>
      </p:sp>
      <p:sp>
        <p:nvSpPr>
          <p:cNvPr id="192" name="Freeform 3"/>
          <p:cNvSpPr/>
          <p:nvPr/>
        </p:nvSpPr>
        <p:spPr>
          <a:xfrm>
            <a:off x="11495753" y="5680855"/>
            <a:ext cx="7424702" cy="6385245"/>
          </a:xfrm>
          <a:prstGeom prst="rect">
            <a:avLst/>
          </a:prstGeom>
          <a:blipFill>
            <a:blip r:embed="rId2"/>
            <a:stretch>
              <a:fillRect/>
            </a:stretch>
          </a:blipFill>
          <a:ln w="12700">
            <a:miter lim="400000"/>
          </a:ln>
        </p:spPr>
        <p:txBody>
          <a:bodyPr lIns="45719" rIns="45719"/>
          <a:lstStyle/>
          <a:p>
            <a:pPr/>
          </a:p>
        </p:txBody>
      </p:sp>
      <p:sp>
        <p:nvSpPr>
          <p:cNvPr id="193" name="Freeform 4"/>
          <p:cNvSpPr/>
          <p:nvPr/>
        </p:nvSpPr>
        <p:spPr>
          <a:xfrm flipH="1" flipV="1">
            <a:off x="2223068" y="-704388"/>
            <a:ext cx="7424703" cy="6385244"/>
          </a:xfrm>
          <a:prstGeom prst="rect">
            <a:avLst/>
          </a:prstGeom>
          <a:blipFill>
            <a:blip r:embed="rId3"/>
            <a:stretch>
              <a:fillRect/>
            </a:stretch>
          </a:blipFill>
          <a:ln w="12700">
            <a:miter lim="400000"/>
          </a:ln>
        </p:spPr>
        <p:txBody>
          <a:bodyPr lIns="45719" rIns="45719"/>
          <a:lstStyle/>
          <a:p>
            <a:pPr/>
          </a:p>
        </p:txBody>
      </p:sp>
      <p:sp>
        <p:nvSpPr>
          <p:cNvPr id="194" name="Freeform 5"/>
          <p:cNvSpPr/>
          <p:nvPr/>
        </p:nvSpPr>
        <p:spPr>
          <a:xfrm>
            <a:off x="-518908" y="-3668448"/>
            <a:ext cx="7424702" cy="6385245"/>
          </a:xfrm>
          <a:prstGeom prst="rect">
            <a:avLst/>
          </a:prstGeom>
          <a:blipFill>
            <a:blip r:embed="rId3"/>
            <a:stretch>
              <a:fillRect/>
            </a:stretch>
          </a:blipFill>
          <a:ln w="12700">
            <a:miter lim="400000"/>
          </a:ln>
        </p:spPr>
        <p:txBody>
          <a:bodyPr lIns="45719" rIns="45719"/>
          <a:lstStyle/>
          <a:p>
            <a:pPr/>
          </a:p>
        </p:txBody>
      </p:sp>
      <p:sp>
        <p:nvSpPr>
          <p:cNvPr id="195" name="TextBox 6"/>
          <p:cNvSpPr txBox="1"/>
          <p:nvPr/>
        </p:nvSpPr>
        <p:spPr>
          <a:xfrm>
            <a:off x="1687442" y="825065"/>
            <a:ext cx="3786225" cy="126464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9400"/>
              </a:lnSpc>
              <a:defRPr b="1" spc="-673" sz="10600">
                <a:solidFill>
                  <a:srgbClr val="FFFFFF"/>
                </a:solidFill>
                <a:latin typeface="Arial Unicode Bold"/>
                <a:ea typeface="Arial Unicode Bold"/>
                <a:cs typeface="Arial Unicode Bold"/>
                <a:sym typeface="Arial Unicode Bold"/>
              </a:defRPr>
            </a:lvl1pPr>
          </a:lstStyle>
          <a:p>
            <a:pPr/>
            <a:r>
              <a:t>Result</a:t>
            </a:r>
          </a:p>
        </p:txBody>
      </p:sp>
      <p:sp>
        <p:nvSpPr>
          <p:cNvPr id="196" name="TextBox 7"/>
          <p:cNvSpPr txBox="1"/>
          <p:nvPr/>
        </p:nvSpPr>
        <p:spPr>
          <a:xfrm>
            <a:off x="1782942" y="2183167"/>
            <a:ext cx="15269445" cy="45377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3600"/>
              </a:lnSpc>
              <a:defRPr sz="3600">
                <a:solidFill>
                  <a:srgbClr val="FFFFFF"/>
                </a:solidFill>
                <a:latin typeface="Arial Unicode"/>
                <a:ea typeface="Arial Unicode"/>
                <a:cs typeface="Arial Unicode"/>
                <a:sym typeface="Arial Unicode"/>
              </a:defRPr>
            </a:pPr>
            <a:r>
              <a:t>What we give as input:</a:t>
            </a:r>
          </a:p>
          <a:p>
            <a:pPr lvl="1" marL="777240" indent="-388620">
              <a:lnSpc>
                <a:spcPts val="3600"/>
              </a:lnSpc>
              <a:buSzPct val="100000"/>
              <a:buFont typeface="Arial"/>
              <a:buChar char="•"/>
              <a:defRPr sz="3600">
                <a:solidFill>
                  <a:srgbClr val="FFFFFF"/>
                </a:solidFill>
                <a:latin typeface="Arial Unicode"/>
                <a:ea typeface="Arial Unicode"/>
                <a:cs typeface="Arial Unicode"/>
                <a:sym typeface="Arial Unicode"/>
              </a:defRPr>
            </a:pPr>
            <a:r>
              <a:t>Bank.xlsx - contains bank statement transactions with details such as Date, Description, Debit/Credit (CR/DR), Amount, and Reference Number.</a:t>
            </a:r>
          </a:p>
          <a:p>
            <a:pPr lvl="1" marL="777240" indent="-388620">
              <a:lnSpc>
                <a:spcPts val="3600"/>
              </a:lnSpc>
              <a:buSzPct val="100000"/>
              <a:buFont typeface="Arial"/>
              <a:buChar char="•"/>
              <a:defRPr sz="3600">
                <a:solidFill>
                  <a:srgbClr val="FFFFFF"/>
                </a:solidFill>
                <a:latin typeface="Arial Unicode"/>
                <a:ea typeface="Arial Unicode"/>
                <a:cs typeface="Arial Unicode"/>
                <a:sym typeface="Arial Unicode"/>
              </a:defRPr>
            </a:pPr>
            <a:r>
              <a:t>Department files (.xlsx) - multiple Excel files for each department containing internal transaction records such as Date, Description, Department Name, Debit/Credit values, and Amount.</a:t>
            </a:r>
          </a:p>
          <a:p>
            <a:pPr lvl="1" marL="777240" indent="-388620">
              <a:lnSpc>
                <a:spcPts val="3600"/>
              </a:lnSpc>
              <a:buSzPct val="100000"/>
              <a:buFont typeface="Arial"/>
              <a:buChar char="•"/>
              <a:defRPr sz="3600">
                <a:solidFill>
                  <a:srgbClr val="FFFFFF"/>
                </a:solidFill>
                <a:latin typeface="Arial Unicode"/>
                <a:ea typeface="Arial Unicode"/>
                <a:cs typeface="Arial Unicode"/>
                <a:sym typeface="Arial Unicode"/>
              </a:defRPr>
            </a:pPr>
            <a:r>
              <a:t>Company-wise files - separate bank files for each company processed dynamically using company names.</a:t>
            </a:r>
          </a:p>
        </p:txBody>
      </p:sp>
      <p:sp>
        <p:nvSpPr>
          <p:cNvPr id="197" name="TextBox 8"/>
          <p:cNvSpPr txBox="1"/>
          <p:nvPr/>
        </p:nvSpPr>
        <p:spPr>
          <a:xfrm>
            <a:off x="1782942" y="6729289"/>
            <a:ext cx="15269445" cy="27089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600"/>
              </a:lnSpc>
              <a:defRPr sz="3600">
                <a:solidFill>
                  <a:srgbClr val="FFFFFF"/>
                </a:solidFill>
                <a:latin typeface="Arial Unicode"/>
                <a:ea typeface="Arial Unicode"/>
                <a:cs typeface="Arial Unicode"/>
                <a:sym typeface="Arial Unicode"/>
              </a:defRPr>
            </a:lvl1pPr>
            <a:lvl2pPr marL="777240" indent="-388620">
              <a:lnSpc>
                <a:spcPts val="3600"/>
              </a:lnSpc>
              <a:buSzPct val="100000"/>
              <a:buFont typeface="Arial"/>
              <a:buChar char="•"/>
              <a:defRPr sz="3600">
                <a:solidFill>
                  <a:srgbClr val="FFFFFF"/>
                </a:solidFill>
                <a:latin typeface="Arial Unicode"/>
                <a:ea typeface="Arial Unicode"/>
                <a:cs typeface="Arial Unicode"/>
                <a:sym typeface="Arial Unicode"/>
              </a:defRPr>
            </a:lvl2pPr>
          </a:lstStyle>
          <a:p>
            <a:pPr/>
            <a:r>
              <a:t>What we get as output:</a:t>
            </a:r>
          </a:p>
          <a:p>
            <a:pPr lvl="1"/>
            <a:r>
              <a:t>Reconciliation_Report.xlsx - contains one row per transaction with columns such as Company Name, Date, Description, Amount, Department, Status (Matched / Amount Mismatch / Missing in Company), and Remarks.</a:t>
            </a:r>
          </a:p>
        </p:txBody>
      </p:sp>
    </p:spTree>
  </p:cSld>
  <p:clrMapOvr>
    <a:masterClrMapping/>
  </p:clrMapOvr>
  <mc:AlternateContent xmlns:mc="http://schemas.openxmlformats.org/markup-compatibility/2006">
    <mc:Choice xmlns:p14="http://schemas.microsoft.com/office/powerpoint/2010/main" Requires="p14">
      <p:transition spd="fast" advClick="1" p14:dur="500">
        <p:push dir="l"/>
      </p:transition>
    </mc:Choice>
    <mc:Fallback>
      <p:transition spd="fast">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31416"/>
        </a:solidFill>
      </p:bgPr>
    </p:bg>
    <p:spTree>
      <p:nvGrpSpPr>
        <p:cNvPr id="1" name=""/>
        <p:cNvGrpSpPr/>
        <p:nvPr/>
      </p:nvGrpSpPr>
      <p:grpSpPr>
        <a:xfrm>
          <a:off x="0" y="0"/>
          <a:ext cx="0" cy="0"/>
          <a:chOff x="0" y="0"/>
          <a:chExt cx="0" cy="0"/>
        </a:xfrm>
      </p:grpSpPr>
      <p:sp>
        <p:nvSpPr>
          <p:cNvPr id="199" name="Freeform 2"/>
          <p:cNvSpPr/>
          <p:nvPr/>
        </p:nvSpPr>
        <p:spPr>
          <a:xfrm>
            <a:off x="3197756" y="740352"/>
            <a:ext cx="11036587" cy="9546649"/>
          </a:xfrm>
          <a:prstGeom prst="rect">
            <a:avLst/>
          </a:prstGeom>
          <a:blipFill>
            <a:blip r:embed="rId2"/>
            <a:stretch>
              <a:fillRect/>
            </a:stretch>
          </a:blipFill>
          <a:ln w="12700">
            <a:miter lim="400000"/>
          </a:ln>
        </p:spPr>
        <p:txBody>
          <a:bodyPr lIns="45719" rIns="45719"/>
          <a:lstStyle/>
          <a:p>
            <a:pPr/>
          </a:p>
        </p:txBody>
      </p:sp>
      <p:sp>
        <p:nvSpPr>
          <p:cNvPr id="200" name="TextBox 3"/>
          <p:cNvSpPr txBox="1"/>
          <p:nvPr/>
        </p:nvSpPr>
        <p:spPr>
          <a:xfrm>
            <a:off x="5541064" y="102302"/>
            <a:ext cx="5620351" cy="4518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3700"/>
              </a:lnSpc>
              <a:defRPr b="1" sz="2600">
                <a:solidFill>
                  <a:srgbClr val="FFFFFF"/>
                </a:solidFill>
                <a:latin typeface="Canva Sans Bold"/>
                <a:ea typeface="Canva Sans Bold"/>
                <a:cs typeface="Canva Sans Bold"/>
                <a:sym typeface="Canva Sans Bold"/>
              </a:defRPr>
            </a:lvl1pPr>
          </a:lstStyle>
          <a:p>
            <a:pPr/>
            <a:r>
              <a:t>Company C bank records:</a:t>
            </a:r>
          </a:p>
        </p:txBody>
      </p:sp>
    </p:spTree>
  </p:cSld>
  <p:clrMapOvr>
    <a:masterClrMapping/>
  </p:clrMapOvr>
  <mc:AlternateContent xmlns:mc="http://schemas.openxmlformats.org/markup-compatibility/2006">
    <mc:Choice xmlns:p14="http://schemas.microsoft.com/office/powerpoint/2010/main" Requires="p14">
      <p:transition spd="fast" advClick="1" p14:dur="500">
        <p:push dir="l"/>
      </p:transition>
    </mc:Choice>
    <mc:Fallback>
      <p:transition spd="fast">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31416"/>
        </a:solidFill>
      </p:bgPr>
    </p:bg>
    <p:spTree>
      <p:nvGrpSpPr>
        <p:cNvPr id="1" name=""/>
        <p:cNvGrpSpPr/>
        <p:nvPr/>
      </p:nvGrpSpPr>
      <p:grpSpPr>
        <a:xfrm>
          <a:off x="0" y="0"/>
          <a:ext cx="0" cy="0"/>
          <a:chOff x="0" y="0"/>
          <a:chExt cx="0" cy="0"/>
        </a:xfrm>
      </p:grpSpPr>
      <p:sp>
        <p:nvSpPr>
          <p:cNvPr id="202" name="Freeform 2"/>
          <p:cNvSpPr/>
          <p:nvPr/>
        </p:nvSpPr>
        <p:spPr>
          <a:xfrm>
            <a:off x="3024706" y="1184550"/>
            <a:ext cx="12238589" cy="9102450"/>
          </a:xfrm>
          <a:prstGeom prst="rect">
            <a:avLst/>
          </a:prstGeom>
          <a:blipFill>
            <a:blip r:embed="rId2"/>
            <a:stretch>
              <a:fillRect/>
            </a:stretch>
          </a:blipFill>
          <a:ln w="12700">
            <a:miter lim="400000"/>
          </a:ln>
        </p:spPr>
        <p:txBody>
          <a:bodyPr lIns="45719" rIns="45719"/>
          <a:lstStyle/>
          <a:p>
            <a:pPr/>
          </a:p>
        </p:txBody>
      </p:sp>
      <p:sp>
        <p:nvSpPr>
          <p:cNvPr id="203" name="TextBox 3"/>
          <p:cNvSpPr txBox="1"/>
          <p:nvPr/>
        </p:nvSpPr>
        <p:spPr>
          <a:xfrm>
            <a:off x="5541064" y="102302"/>
            <a:ext cx="5620351" cy="4518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3700"/>
              </a:lnSpc>
              <a:defRPr b="1" sz="2600">
                <a:solidFill>
                  <a:srgbClr val="FFFFFF"/>
                </a:solidFill>
                <a:latin typeface="Canva Sans Bold"/>
                <a:ea typeface="Canva Sans Bold"/>
                <a:cs typeface="Canva Sans Bold"/>
                <a:sym typeface="Canva Sans Bold"/>
              </a:defRPr>
            </a:lvl1pPr>
          </a:lstStyle>
          <a:p>
            <a:pPr/>
            <a:r>
              <a:t>Company C records:</a:t>
            </a:r>
          </a:p>
        </p:txBody>
      </p:sp>
    </p:spTree>
  </p:cSld>
  <p:clrMapOvr>
    <a:masterClrMapping/>
  </p:clrMapOvr>
  <mc:AlternateContent xmlns:mc="http://schemas.openxmlformats.org/markup-compatibility/2006">
    <mc:Choice xmlns:p14="http://schemas.microsoft.com/office/powerpoint/2010/main" Requires="p14">
      <p:transition spd="fast" advClick="1" p14:dur="500">
        <p:push dir="l"/>
      </p:transition>
    </mc:Choice>
    <mc:Fallback>
      <p:transition spd="fast">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31416"/>
        </a:solidFill>
      </p:bgPr>
    </p:bg>
    <p:spTree>
      <p:nvGrpSpPr>
        <p:cNvPr id="1" name=""/>
        <p:cNvGrpSpPr/>
        <p:nvPr/>
      </p:nvGrpSpPr>
      <p:grpSpPr>
        <a:xfrm>
          <a:off x="0" y="0"/>
          <a:ext cx="0" cy="0"/>
          <a:chOff x="0" y="0"/>
          <a:chExt cx="0" cy="0"/>
        </a:xfrm>
      </p:grpSpPr>
      <p:sp>
        <p:nvSpPr>
          <p:cNvPr id="205" name="Freeform 2"/>
          <p:cNvSpPr/>
          <p:nvPr/>
        </p:nvSpPr>
        <p:spPr>
          <a:xfrm>
            <a:off x="2794582" y="1028699"/>
            <a:ext cx="12861937" cy="8890815"/>
          </a:xfrm>
          <a:prstGeom prst="rect">
            <a:avLst/>
          </a:prstGeom>
          <a:blipFill>
            <a:blip r:embed="rId2"/>
            <a:stretch>
              <a:fillRect/>
            </a:stretch>
          </a:blipFill>
          <a:ln w="12700">
            <a:miter lim="400000"/>
          </a:ln>
        </p:spPr>
        <p:txBody>
          <a:bodyPr lIns="45719" rIns="45719"/>
          <a:lstStyle/>
          <a:p>
            <a:pPr/>
          </a:p>
        </p:txBody>
      </p:sp>
      <p:sp>
        <p:nvSpPr>
          <p:cNvPr id="206" name="TextBox 3"/>
          <p:cNvSpPr txBox="1"/>
          <p:nvPr/>
        </p:nvSpPr>
        <p:spPr>
          <a:xfrm>
            <a:off x="5000658" y="333905"/>
            <a:ext cx="8032875" cy="4518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3700"/>
              </a:lnSpc>
              <a:defRPr b="1" sz="2600">
                <a:solidFill>
                  <a:srgbClr val="FFFFFF"/>
                </a:solidFill>
                <a:latin typeface="Canva Sans Bold"/>
                <a:ea typeface="Canva Sans Bold"/>
                <a:cs typeface="Canva Sans Bold"/>
                <a:sym typeface="Canva Sans Bold"/>
              </a:defRPr>
            </a:lvl1pPr>
          </a:lstStyle>
          <a:p>
            <a:pPr/>
            <a:r>
              <a:t>Reconciliation Report of Company C</a:t>
            </a:r>
          </a:p>
        </p:txBody>
      </p:sp>
    </p:spTree>
  </p:cSld>
  <p:clrMapOvr>
    <a:masterClrMapping/>
  </p:clrMapOvr>
  <mc:AlternateContent xmlns:mc="http://schemas.openxmlformats.org/markup-compatibility/2006">
    <mc:Choice xmlns:p14="http://schemas.microsoft.com/office/powerpoint/2010/main" Requires="p14">
      <p:transition spd="fast" advClick="1" p14:dur="500">
        <p:push dir="l"/>
      </p:transition>
    </mc:Choice>
    <mc:Fallback>
      <p:transition spd="fast">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31416"/>
        </a:solidFill>
      </p:bgPr>
    </p:bg>
    <p:spTree>
      <p:nvGrpSpPr>
        <p:cNvPr id="1" name=""/>
        <p:cNvGrpSpPr/>
        <p:nvPr/>
      </p:nvGrpSpPr>
      <p:grpSpPr>
        <a:xfrm>
          <a:off x="0" y="0"/>
          <a:ext cx="0" cy="0"/>
          <a:chOff x="0" y="0"/>
          <a:chExt cx="0" cy="0"/>
        </a:xfrm>
      </p:grpSpPr>
      <p:sp>
        <p:nvSpPr>
          <p:cNvPr id="208" name="Freeform 2"/>
          <p:cNvSpPr/>
          <p:nvPr/>
        </p:nvSpPr>
        <p:spPr>
          <a:xfrm>
            <a:off x="4016874" y="737859"/>
            <a:ext cx="10739992" cy="9209544"/>
          </a:xfrm>
          <a:prstGeom prst="rect">
            <a:avLst/>
          </a:prstGeom>
          <a:blipFill>
            <a:blip r:embed="rId2"/>
            <a:stretch>
              <a:fillRect/>
            </a:stretch>
          </a:blipFill>
          <a:ln w="12700">
            <a:miter lim="400000"/>
          </a:ln>
        </p:spPr>
        <p:txBody>
          <a:bodyPr lIns="45719" rIns="45719"/>
          <a:lstStyle/>
          <a:p>
            <a:pPr/>
          </a:p>
        </p:txBody>
      </p:sp>
      <p:sp>
        <p:nvSpPr>
          <p:cNvPr id="209" name="TextBox 3"/>
          <p:cNvSpPr txBox="1"/>
          <p:nvPr/>
        </p:nvSpPr>
        <p:spPr>
          <a:xfrm>
            <a:off x="5541064" y="102302"/>
            <a:ext cx="5620351" cy="4518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3700"/>
              </a:lnSpc>
              <a:defRPr b="1" sz="2600">
                <a:solidFill>
                  <a:srgbClr val="FFFFFF"/>
                </a:solidFill>
                <a:latin typeface="Canva Sans Bold"/>
                <a:ea typeface="Canva Sans Bold"/>
                <a:cs typeface="Canva Sans Bold"/>
                <a:sym typeface="Canva Sans Bold"/>
              </a:defRPr>
            </a:lvl1pPr>
          </a:lstStyle>
          <a:p>
            <a:pPr/>
            <a:r>
              <a:t>Company A bank records:</a:t>
            </a:r>
          </a:p>
        </p:txBody>
      </p:sp>
    </p:spTree>
  </p:cSld>
  <p:clrMapOvr>
    <a:masterClrMapping/>
  </p:clrMapOvr>
  <mc:AlternateContent xmlns:mc="http://schemas.openxmlformats.org/markup-compatibility/2006">
    <mc:Choice xmlns:p14="http://schemas.microsoft.com/office/powerpoint/2010/main" Requires="p14">
      <p:transition spd="fast" advClick="1" p14:dur="500">
        <p:push dir="l"/>
      </p:transition>
    </mc:Choice>
    <mc:Fallback>
      <p:transition spd="fast">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31416"/>
        </a:solidFill>
      </p:bgPr>
    </p:bg>
    <p:spTree>
      <p:nvGrpSpPr>
        <p:cNvPr id="1" name=""/>
        <p:cNvGrpSpPr/>
        <p:nvPr/>
      </p:nvGrpSpPr>
      <p:grpSpPr>
        <a:xfrm>
          <a:off x="0" y="0"/>
          <a:ext cx="0" cy="0"/>
          <a:chOff x="0" y="0"/>
          <a:chExt cx="0" cy="0"/>
        </a:xfrm>
      </p:grpSpPr>
      <p:sp>
        <p:nvSpPr>
          <p:cNvPr id="211" name="Freeform 2"/>
          <p:cNvSpPr/>
          <p:nvPr/>
        </p:nvSpPr>
        <p:spPr>
          <a:xfrm>
            <a:off x="3105264" y="775992"/>
            <a:ext cx="12077472" cy="9511008"/>
          </a:xfrm>
          <a:prstGeom prst="rect">
            <a:avLst/>
          </a:prstGeom>
          <a:blipFill>
            <a:blip r:embed="rId2"/>
            <a:stretch>
              <a:fillRect/>
            </a:stretch>
          </a:blipFill>
          <a:ln w="12700">
            <a:miter lim="400000"/>
          </a:ln>
        </p:spPr>
        <p:txBody>
          <a:bodyPr lIns="45719" rIns="45719"/>
          <a:lstStyle/>
          <a:p>
            <a:pPr/>
          </a:p>
        </p:txBody>
      </p:sp>
      <p:sp>
        <p:nvSpPr>
          <p:cNvPr id="212" name="TextBox 3"/>
          <p:cNvSpPr txBox="1"/>
          <p:nvPr/>
        </p:nvSpPr>
        <p:spPr>
          <a:xfrm>
            <a:off x="5541064" y="102302"/>
            <a:ext cx="5620351" cy="4518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3700"/>
              </a:lnSpc>
              <a:defRPr b="1" sz="2600">
                <a:solidFill>
                  <a:srgbClr val="FFFFFF"/>
                </a:solidFill>
                <a:latin typeface="Canva Sans Bold"/>
                <a:ea typeface="Canva Sans Bold"/>
                <a:cs typeface="Canva Sans Bold"/>
                <a:sym typeface="Canva Sans Bold"/>
              </a:defRPr>
            </a:lvl1pPr>
          </a:lstStyle>
          <a:p>
            <a:pPr/>
            <a:r>
              <a:t>Company A records:</a:t>
            </a:r>
          </a:p>
        </p:txBody>
      </p:sp>
    </p:spTree>
  </p:cSld>
  <p:clrMapOvr>
    <a:masterClrMapping/>
  </p:clrMapOvr>
  <mc:AlternateContent xmlns:mc="http://schemas.openxmlformats.org/markup-compatibility/2006">
    <mc:Choice xmlns:p14="http://schemas.microsoft.com/office/powerpoint/2010/main" Requires="p14">
      <p:transition spd="fast" advClick="1" p14:dur="500">
        <p:push dir="l"/>
      </p:transition>
    </mc:Choice>
    <mc:Fallback>
      <p:transition spd="fast">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31416"/>
        </a:solidFill>
      </p:bgPr>
    </p:bg>
    <p:spTree>
      <p:nvGrpSpPr>
        <p:cNvPr id="1" name=""/>
        <p:cNvGrpSpPr/>
        <p:nvPr/>
      </p:nvGrpSpPr>
      <p:grpSpPr>
        <a:xfrm>
          <a:off x="0" y="0"/>
          <a:ext cx="0" cy="0"/>
          <a:chOff x="0" y="0"/>
          <a:chExt cx="0" cy="0"/>
        </a:xfrm>
      </p:grpSpPr>
      <p:sp>
        <p:nvSpPr>
          <p:cNvPr id="214" name="Freeform 2"/>
          <p:cNvSpPr/>
          <p:nvPr/>
        </p:nvSpPr>
        <p:spPr>
          <a:xfrm>
            <a:off x="3175885" y="1028700"/>
            <a:ext cx="13155668" cy="9258300"/>
          </a:xfrm>
          <a:prstGeom prst="rect">
            <a:avLst/>
          </a:prstGeom>
          <a:blipFill>
            <a:blip r:embed="rId2"/>
            <a:stretch>
              <a:fillRect/>
            </a:stretch>
          </a:blipFill>
          <a:ln w="12700">
            <a:miter lim="400000"/>
          </a:ln>
        </p:spPr>
        <p:txBody>
          <a:bodyPr lIns="45719" rIns="45719"/>
          <a:lstStyle/>
          <a:p>
            <a:pPr/>
          </a:p>
        </p:txBody>
      </p:sp>
      <p:sp>
        <p:nvSpPr>
          <p:cNvPr id="215" name="TextBox 3"/>
          <p:cNvSpPr txBox="1"/>
          <p:nvPr/>
        </p:nvSpPr>
        <p:spPr>
          <a:xfrm>
            <a:off x="5000658" y="333905"/>
            <a:ext cx="8032875" cy="4518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3700"/>
              </a:lnSpc>
              <a:defRPr b="1" sz="2600">
                <a:solidFill>
                  <a:srgbClr val="FFFFFF"/>
                </a:solidFill>
                <a:latin typeface="Canva Sans Bold"/>
                <a:ea typeface="Canva Sans Bold"/>
                <a:cs typeface="Canva Sans Bold"/>
                <a:sym typeface="Canva Sans Bold"/>
              </a:defRPr>
            </a:lvl1pPr>
          </a:lstStyle>
          <a:p>
            <a:pPr/>
            <a:r>
              <a:t>Reconciliation Report of Company A</a:t>
            </a:r>
          </a:p>
        </p:txBody>
      </p:sp>
    </p:spTree>
  </p:cSld>
  <p:clrMapOvr>
    <a:masterClrMapping/>
  </p:clrMapOvr>
  <mc:AlternateContent xmlns:mc="http://schemas.openxmlformats.org/markup-compatibility/2006">
    <mc:Choice xmlns:p14="http://schemas.microsoft.com/office/powerpoint/2010/main" Requires="p14">
      <p:transition spd="fast" advClick="1" p14:dur="500">
        <p:push dir="l"/>
      </p:transition>
    </mc:Choice>
    <mc:Fallback>
      <p:transition spd="fast">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31416"/>
        </a:solidFill>
      </p:bgPr>
    </p:bg>
    <p:spTree>
      <p:nvGrpSpPr>
        <p:cNvPr id="1" name=""/>
        <p:cNvGrpSpPr/>
        <p:nvPr/>
      </p:nvGrpSpPr>
      <p:grpSpPr>
        <a:xfrm>
          <a:off x="0" y="0"/>
          <a:ext cx="0" cy="0"/>
          <a:chOff x="0" y="0"/>
          <a:chExt cx="0" cy="0"/>
        </a:xfrm>
      </p:grpSpPr>
      <p:sp>
        <p:nvSpPr>
          <p:cNvPr id="217" name="Freeform 2"/>
          <p:cNvSpPr/>
          <p:nvPr/>
        </p:nvSpPr>
        <p:spPr>
          <a:xfrm>
            <a:off x="3676903" y="567123"/>
            <a:ext cx="10934195" cy="9540083"/>
          </a:xfrm>
          <a:prstGeom prst="rect">
            <a:avLst/>
          </a:prstGeom>
          <a:blipFill>
            <a:blip r:embed="rId2"/>
            <a:stretch>
              <a:fillRect/>
            </a:stretch>
          </a:blipFill>
          <a:ln w="12700">
            <a:miter lim="400000"/>
          </a:ln>
        </p:spPr>
        <p:txBody>
          <a:bodyPr lIns="45719" rIns="45719"/>
          <a:lstStyle/>
          <a:p>
            <a:pPr/>
          </a:p>
        </p:txBody>
      </p:sp>
      <p:sp>
        <p:nvSpPr>
          <p:cNvPr id="218" name="TextBox 3"/>
          <p:cNvSpPr txBox="1"/>
          <p:nvPr/>
        </p:nvSpPr>
        <p:spPr>
          <a:xfrm>
            <a:off x="5541064" y="102302"/>
            <a:ext cx="5620351" cy="4518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3700"/>
              </a:lnSpc>
              <a:defRPr b="1" sz="2600">
                <a:solidFill>
                  <a:srgbClr val="FFFFFF"/>
                </a:solidFill>
                <a:latin typeface="Canva Sans Bold"/>
                <a:ea typeface="Canva Sans Bold"/>
                <a:cs typeface="Canva Sans Bold"/>
                <a:sym typeface="Canva Sans Bold"/>
              </a:defRPr>
            </a:lvl1pPr>
          </a:lstStyle>
          <a:p>
            <a:pPr/>
            <a:r>
              <a:t>Company B bank records:</a:t>
            </a:r>
          </a:p>
        </p:txBody>
      </p:sp>
    </p:spTree>
  </p:cSld>
  <p:clrMapOvr>
    <a:masterClrMapping/>
  </p:clrMapOvr>
  <mc:AlternateContent xmlns:mc="http://schemas.openxmlformats.org/markup-compatibility/2006">
    <mc:Choice xmlns:p14="http://schemas.microsoft.com/office/powerpoint/2010/main" Requires="p14">
      <p:transition spd="fast" advClick="1" p14:dur="500">
        <p:push dir="l"/>
      </p:transition>
    </mc:Choice>
    <mc:Fallback>
      <p:transition spd="fast">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31416"/>
        </a:solidFill>
      </p:bgPr>
    </p:bg>
    <p:spTree>
      <p:nvGrpSpPr>
        <p:cNvPr id="1" name=""/>
        <p:cNvGrpSpPr/>
        <p:nvPr/>
      </p:nvGrpSpPr>
      <p:grpSpPr>
        <a:xfrm>
          <a:off x="0" y="0"/>
          <a:ext cx="0" cy="0"/>
          <a:chOff x="0" y="0"/>
          <a:chExt cx="0" cy="0"/>
        </a:xfrm>
      </p:grpSpPr>
      <p:sp>
        <p:nvSpPr>
          <p:cNvPr id="220" name="Freeform 2"/>
          <p:cNvSpPr/>
          <p:nvPr/>
        </p:nvSpPr>
        <p:spPr>
          <a:xfrm>
            <a:off x="3543646" y="906719"/>
            <a:ext cx="11200707" cy="9156577"/>
          </a:xfrm>
          <a:prstGeom prst="rect">
            <a:avLst/>
          </a:prstGeom>
          <a:blipFill>
            <a:blip r:embed="rId2"/>
            <a:stretch>
              <a:fillRect/>
            </a:stretch>
          </a:blipFill>
          <a:ln w="12700">
            <a:miter lim="400000"/>
          </a:ln>
        </p:spPr>
        <p:txBody>
          <a:bodyPr lIns="45719" rIns="45719"/>
          <a:lstStyle/>
          <a:p>
            <a:pPr/>
          </a:p>
        </p:txBody>
      </p:sp>
      <p:sp>
        <p:nvSpPr>
          <p:cNvPr id="221" name="TextBox 3"/>
          <p:cNvSpPr txBox="1"/>
          <p:nvPr/>
        </p:nvSpPr>
        <p:spPr>
          <a:xfrm>
            <a:off x="5541064" y="102302"/>
            <a:ext cx="5620351" cy="4518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3700"/>
              </a:lnSpc>
              <a:defRPr b="1" sz="2600">
                <a:solidFill>
                  <a:srgbClr val="FFFFFF"/>
                </a:solidFill>
                <a:latin typeface="Canva Sans Bold"/>
                <a:ea typeface="Canva Sans Bold"/>
                <a:cs typeface="Canva Sans Bold"/>
                <a:sym typeface="Canva Sans Bold"/>
              </a:defRPr>
            </a:lvl1pPr>
          </a:lstStyle>
          <a:p>
            <a:pPr/>
            <a:r>
              <a:t>Company B records:</a:t>
            </a:r>
          </a:p>
        </p:txBody>
      </p:sp>
    </p:spTree>
  </p:cSld>
  <p:clrMapOvr>
    <a:masterClrMapping/>
  </p:clrMapOvr>
  <mc:AlternateContent xmlns:mc="http://schemas.openxmlformats.org/markup-compatibility/2006">
    <mc:Choice xmlns:p14="http://schemas.microsoft.com/office/powerpoint/2010/main" Requires="p14">
      <p:transition spd="fast" advClick="1" p14:dur="500">
        <p:push dir="l"/>
      </p:transition>
    </mc:Choice>
    <mc:Fallback>
      <p:transition spd="fast">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31416"/>
        </a:solidFill>
      </p:bgPr>
    </p:bg>
    <p:spTree>
      <p:nvGrpSpPr>
        <p:cNvPr id="1" name=""/>
        <p:cNvGrpSpPr/>
        <p:nvPr/>
      </p:nvGrpSpPr>
      <p:grpSpPr>
        <a:xfrm>
          <a:off x="0" y="0"/>
          <a:ext cx="0" cy="0"/>
          <a:chOff x="0" y="0"/>
          <a:chExt cx="0" cy="0"/>
        </a:xfrm>
      </p:grpSpPr>
      <p:sp>
        <p:nvSpPr>
          <p:cNvPr id="223" name="Freeform 2"/>
          <p:cNvSpPr/>
          <p:nvPr/>
        </p:nvSpPr>
        <p:spPr>
          <a:xfrm>
            <a:off x="659876" y="1588405"/>
            <a:ext cx="16968247" cy="8229601"/>
          </a:xfrm>
          <a:prstGeom prst="rect">
            <a:avLst/>
          </a:prstGeom>
          <a:blipFill>
            <a:blip r:embed="rId2"/>
            <a:stretch>
              <a:fillRect/>
            </a:stretch>
          </a:blipFill>
          <a:ln w="12700">
            <a:miter lim="400000"/>
          </a:ln>
        </p:spPr>
        <p:txBody>
          <a:bodyPr lIns="45719" rIns="45719"/>
          <a:lstStyle/>
          <a:p>
            <a:pPr/>
          </a:p>
        </p:txBody>
      </p:sp>
      <p:sp>
        <p:nvSpPr>
          <p:cNvPr id="224" name="TextBox 3"/>
          <p:cNvSpPr txBox="1"/>
          <p:nvPr/>
        </p:nvSpPr>
        <p:spPr>
          <a:xfrm>
            <a:off x="5000658" y="333905"/>
            <a:ext cx="8032875" cy="4518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3700"/>
              </a:lnSpc>
              <a:defRPr b="1" sz="2600">
                <a:solidFill>
                  <a:srgbClr val="FFFFFF"/>
                </a:solidFill>
                <a:latin typeface="Canva Sans Bold"/>
                <a:ea typeface="Canva Sans Bold"/>
                <a:cs typeface="Canva Sans Bold"/>
                <a:sym typeface="Canva Sans Bold"/>
              </a:defRPr>
            </a:lvl1pPr>
          </a:lstStyle>
          <a:p>
            <a:pPr/>
            <a:r>
              <a:t>Reconciliation Report of Company B</a:t>
            </a:r>
          </a:p>
        </p:txBody>
      </p:sp>
    </p:spTree>
  </p:cSld>
  <p:clrMapOvr>
    <a:masterClrMapping/>
  </p:clrMapOvr>
  <mc:AlternateContent xmlns:mc="http://schemas.openxmlformats.org/markup-compatibility/2006">
    <mc:Choice xmlns:p14="http://schemas.microsoft.com/office/powerpoint/2010/main" Requires="p14">
      <p:transition spd="fast" advClick="1" p14:dur="500">
        <p:push dir="l"/>
      </p:transition>
    </mc:Choice>
    <mc:Fallback>
      <p:transition spd="fast">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31416"/>
        </a:solidFill>
      </p:bgPr>
    </p:bg>
    <p:spTree>
      <p:nvGrpSpPr>
        <p:cNvPr id="1" name=""/>
        <p:cNvGrpSpPr/>
        <p:nvPr/>
      </p:nvGrpSpPr>
      <p:grpSpPr>
        <a:xfrm>
          <a:off x="0" y="0"/>
          <a:ext cx="0" cy="0"/>
          <a:chOff x="0" y="0"/>
          <a:chExt cx="0" cy="0"/>
        </a:xfrm>
      </p:grpSpPr>
      <p:grpSp>
        <p:nvGrpSpPr>
          <p:cNvPr id="228" name="Group 2"/>
          <p:cNvGrpSpPr/>
          <p:nvPr/>
        </p:nvGrpSpPr>
        <p:grpSpPr>
          <a:xfrm>
            <a:off x="-1047305" y="8247275"/>
            <a:ext cx="22336141" cy="4079449"/>
            <a:chOff x="0" y="0"/>
            <a:chExt cx="22336141" cy="4079447"/>
          </a:xfrm>
        </p:grpSpPr>
        <p:sp>
          <p:nvSpPr>
            <p:cNvPr id="226" name="Freeform 3"/>
            <p:cNvSpPr/>
            <p:nvPr/>
          </p:nvSpPr>
          <p:spPr>
            <a:xfrm>
              <a:off x="-1" y="0"/>
              <a:ext cx="11168071" cy="4079448"/>
            </a:xfrm>
            <a:prstGeom prst="rect">
              <a:avLst/>
            </a:prstGeom>
            <a:blipFill rotWithShape="1">
              <a:blip r:embed="rId2"/>
              <a:srcRect l="0" t="0" r="0" b="0"/>
              <a:stretch>
                <a:fillRect/>
              </a:stretch>
            </a:blipFill>
            <a:ln w="12700" cap="flat">
              <a:noFill/>
              <a:miter lim="400000"/>
            </a:ln>
            <a:effectLst/>
          </p:spPr>
          <p:txBody>
            <a:bodyPr wrap="square" lIns="45719" tIns="45719" rIns="45719" bIns="45719" numCol="1" anchor="t">
              <a:noAutofit/>
            </a:bodyPr>
            <a:lstStyle/>
            <a:p>
              <a:pPr/>
            </a:p>
          </p:txBody>
        </p:sp>
        <p:sp>
          <p:nvSpPr>
            <p:cNvPr id="227" name="Freeform 4"/>
            <p:cNvSpPr/>
            <p:nvPr/>
          </p:nvSpPr>
          <p:spPr>
            <a:xfrm flipH="1">
              <a:off x="11168070" y="0"/>
              <a:ext cx="11168071" cy="4079448"/>
            </a:xfrm>
            <a:prstGeom prst="rect">
              <a:avLst/>
            </a:prstGeom>
            <a:blipFill rotWithShape="1">
              <a:blip r:embed="rId2"/>
              <a:srcRect l="0" t="0" r="0" b="0"/>
              <a:stretch>
                <a:fillRect/>
              </a:stretch>
            </a:blipFill>
            <a:ln w="12700" cap="flat">
              <a:noFill/>
              <a:miter lim="400000"/>
            </a:ln>
            <a:effectLst/>
          </p:spPr>
          <p:txBody>
            <a:bodyPr wrap="square" lIns="45719" tIns="45719" rIns="45719" bIns="45719" numCol="1" anchor="t">
              <a:noAutofit/>
            </a:bodyPr>
            <a:lstStyle/>
            <a:p>
              <a:pPr/>
            </a:p>
          </p:txBody>
        </p:sp>
      </p:grpSp>
      <p:sp>
        <p:nvSpPr>
          <p:cNvPr id="229" name="Freeform 5"/>
          <p:cNvSpPr/>
          <p:nvPr/>
        </p:nvSpPr>
        <p:spPr>
          <a:xfrm>
            <a:off x="-4278728" y="-3841361"/>
            <a:ext cx="5307429" cy="5487005"/>
          </a:xfrm>
          <a:prstGeom prst="rect">
            <a:avLst/>
          </a:prstGeom>
          <a:blipFill>
            <a:blip r:embed="rId3"/>
            <a:stretch>
              <a:fillRect/>
            </a:stretch>
          </a:blipFill>
          <a:ln w="12700">
            <a:miter lim="400000"/>
          </a:ln>
        </p:spPr>
        <p:txBody>
          <a:bodyPr lIns="45719" rIns="45719"/>
          <a:lstStyle/>
          <a:p>
            <a:pPr/>
          </a:p>
        </p:txBody>
      </p:sp>
      <p:sp>
        <p:nvSpPr>
          <p:cNvPr id="230" name="TextBox 6"/>
          <p:cNvSpPr txBox="1"/>
          <p:nvPr/>
        </p:nvSpPr>
        <p:spPr>
          <a:xfrm>
            <a:off x="1687442" y="978430"/>
            <a:ext cx="6206630" cy="11890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8800"/>
              </a:lnSpc>
              <a:defRPr b="1" spc="-635" sz="10100">
                <a:solidFill>
                  <a:srgbClr val="A5F7FF"/>
                </a:solidFill>
                <a:latin typeface="Arial Unicode Bold"/>
                <a:ea typeface="Arial Unicode Bold"/>
                <a:cs typeface="Arial Unicode Bold"/>
                <a:sym typeface="Arial Unicode Bold"/>
              </a:defRPr>
            </a:lvl1pPr>
          </a:lstStyle>
          <a:p>
            <a:pPr/>
            <a:r>
              <a:t>References</a:t>
            </a:r>
          </a:p>
        </p:txBody>
      </p:sp>
      <p:sp>
        <p:nvSpPr>
          <p:cNvPr id="231" name="TextBox 7"/>
          <p:cNvSpPr txBox="1"/>
          <p:nvPr/>
        </p:nvSpPr>
        <p:spPr>
          <a:xfrm>
            <a:off x="2630342" y="2355367"/>
            <a:ext cx="14284715" cy="56654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just">
              <a:lnSpc>
                <a:spcPts val="3200"/>
              </a:lnSpc>
              <a:defRPr sz="3200">
                <a:solidFill>
                  <a:srgbClr val="FFFFFF"/>
                </a:solidFill>
                <a:latin typeface="Arial Unicode"/>
                <a:ea typeface="Arial Unicode"/>
                <a:cs typeface="Arial Unicode"/>
                <a:sym typeface="Arial Unicode"/>
              </a:defRPr>
            </a:pPr>
            <a:r>
              <a:t>[1] J. Wewerka and M. Reichert, “Robotic Process Automation: A Systematic   Literature Review and Future Research Directions,” Business &amp; Information Systems Engineering, vol. 62, no. 5, pp. 425–440, 2020.</a:t>
            </a:r>
          </a:p>
          <a:p>
            <a:pPr algn="just">
              <a:lnSpc>
                <a:spcPts val="3200"/>
              </a:lnSpc>
              <a:defRPr sz="3200">
                <a:solidFill>
                  <a:srgbClr val="FFFFFF"/>
                </a:solidFill>
                <a:latin typeface="Arial Unicode"/>
                <a:ea typeface="Arial Unicode"/>
                <a:cs typeface="Arial Unicode"/>
                <a:sym typeface="Arial Unicode"/>
              </a:defRPr>
            </a:pPr>
            <a:r>
              <a:t>[2] P. Kotla, “Automation of Financial Processes Using UiPath RPA,” International Journal of Advanced Research in Computer Science, 2024.</a:t>
            </a:r>
          </a:p>
          <a:p>
            <a:pPr algn="just">
              <a:lnSpc>
                <a:spcPts val="3200"/>
              </a:lnSpc>
              <a:defRPr sz="3200">
                <a:solidFill>
                  <a:srgbClr val="FFFFFF"/>
                </a:solidFill>
                <a:latin typeface="Arial Unicode"/>
                <a:ea typeface="Arial Unicode"/>
                <a:cs typeface="Arial Unicode"/>
                <a:sym typeface="Arial Unicode"/>
              </a:defRPr>
            </a:pPr>
            <a:r>
              <a:t>[3] P. Matin, “Robotic Process Automation for Automating Financial Reconciliation,” ResearchGate, 2024.</a:t>
            </a:r>
          </a:p>
          <a:p>
            <a:pPr algn="just">
              <a:lnSpc>
                <a:spcPts val="3200"/>
              </a:lnSpc>
              <a:defRPr sz="3200">
                <a:solidFill>
                  <a:srgbClr val="FFFFFF"/>
                </a:solidFill>
                <a:latin typeface="Arial Unicode"/>
                <a:ea typeface="Arial Unicode"/>
                <a:cs typeface="Arial Unicode"/>
                <a:sym typeface="Arial Unicode"/>
              </a:defRPr>
            </a:pPr>
            <a:r>
              <a:t>[4] UiPath, “Automating Finance and Accounting with Robotic Process Automation,” White Paper, 2019.</a:t>
            </a:r>
          </a:p>
          <a:p>
            <a:pPr algn="just">
              <a:lnSpc>
                <a:spcPts val="3200"/>
              </a:lnSpc>
              <a:defRPr sz="3200">
                <a:solidFill>
                  <a:srgbClr val="FFFFFF"/>
                </a:solidFill>
                <a:latin typeface="Arial Unicode"/>
                <a:ea typeface="Arial Unicode"/>
                <a:cs typeface="Arial Unicode"/>
                <a:sym typeface="Arial Unicode"/>
              </a:defRPr>
            </a:pPr>
            <a:r>
              <a:t>[5] Deloitte, “The Robots Are Ready: Are You? Untapped Advantage in Your Digital Workforce,” 2017.</a:t>
            </a:r>
          </a:p>
          <a:p>
            <a:pPr algn="just">
              <a:lnSpc>
                <a:spcPts val="3200"/>
              </a:lnSpc>
              <a:defRPr sz="3200">
                <a:solidFill>
                  <a:srgbClr val="FFFFFF"/>
                </a:solidFill>
                <a:latin typeface="Arial Unicode"/>
                <a:ea typeface="Arial Unicode"/>
                <a:cs typeface="Arial Unicode"/>
                <a:sym typeface="Arial Unicode"/>
              </a:defRPr>
            </a:pPr>
            <a:r>
              <a:t>[6] McKinsey Global Institute, “A Future That Works: Automation, Employment, and Productivity,” 2019.</a:t>
            </a:r>
          </a:p>
        </p:txBody>
      </p:sp>
      <p:sp>
        <p:nvSpPr>
          <p:cNvPr id="232" name="Freeform 8"/>
          <p:cNvSpPr/>
          <p:nvPr/>
        </p:nvSpPr>
        <p:spPr>
          <a:xfrm>
            <a:off x="17259300" y="8944425"/>
            <a:ext cx="5307428" cy="5487004"/>
          </a:xfrm>
          <a:prstGeom prst="rect">
            <a:avLst/>
          </a:prstGeom>
          <a:blipFill>
            <a:blip r:embed="rId3"/>
            <a:stretch>
              <a:fillRect/>
            </a:stretch>
          </a:blipFill>
          <a:ln w="12700">
            <a:miter lim="400000"/>
          </a:ln>
        </p:spPr>
        <p:txBody>
          <a:bodyPr lIns="45719" rIns="45719"/>
          <a:lstStyle/>
          <a:p>
            <a:pPr/>
          </a:p>
        </p:txBody>
      </p:sp>
    </p:spTree>
  </p:cSld>
  <p:clrMapOvr>
    <a:masterClrMapping/>
  </p:clrMapOvr>
  <mc:AlternateContent xmlns:mc="http://schemas.openxmlformats.org/markup-compatibility/2006">
    <mc:Choice xmlns:p14="http://schemas.microsoft.com/office/powerpoint/2010/main" Requires="p14">
      <p:transition spd="fast" advClick="1" p14:dur="500">
        <p:push dir="l"/>
      </p:transition>
    </mc:Choice>
    <mc:Fallback>
      <p:transition spd="fast">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31416"/>
        </a:solidFill>
      </p:bgPr>
    </p:bg>
    <p:spTree>
      <p:nvGrpSpPr>
        <p:cNvPr id="1" name=""/>
        <p:cNvGrpSpPr/>
        <p:nvPr/>
      </p:nvGrpSpPr>
      <p:grpSpPr>
        <a:xfrm>
          <a:off x="0" y="0"/>
          <a:ext cx="0" cy="0"/>
          <a:chOff x="0" y="0"/>
          <a:chExt cx="0" cy="0"/>
        </a:xfrm>
      </p:grpSpPr>
      <p:sp>
        <p:nvSpPr>
          <p:cNvPr id="234" name="Freeform 3"/>
          <p:cNvSpPr/>
          <p:nvPr/>
        </p:nvSpPr>
        <p:spPr>
          <a:xfrm>
            <a:off x="1550956" y="-2449545"/>
            <a:ext cx="15186089" cy="15186090"/>
          </a:xfrm>
          <a:prstGeom prst="ellipse">
            <a:avLst/>
          </a:prstGeom>
          <a:ln w="95250" cap="sq">
            <a:solidFill>
              <a:srgbClr val="95ABF8"/>
            </a:solidFill>
            <a:miter/>
          </a:ln>
        </p:spPr>
        <p:txBody>
          <a:bodyPr lIns="45719" rIns="45719"/>
          <a:lstStyle/>
          <a:p>
            <a:pPr/>
          </a:p>
        </p:txBody>
      </p:sp>
      <p:sp>
        <p:nvSpPr>
          <p:cNvPr id="235" name="Freeform 6"/>
          <p:cNvSpPr/>
          <p:nvPr/>
        </p:nvSpPr>
        <p:spPr>
          <a:xfrm>
            <a:off x="2363135" y="-1637365"/>
            <a:ext cx="13561729" cy="13561729"/>
          </a:xfrm>
          <a:prstGeom prst="ellipse">
            <a:avLst/>
          </a:prstGeom>
          <a:ln w="95250" cap="sq">
            <a:solidFill>
              <a:srgbClr val="73C2E7"/>
            </a:solidFill>
            <a:miter/>
          </a:ln>
        </p:spPr>
        <p:txBody>
          <a:bodyPr lIns="45719" rIns="45719"/>
          <a:lstStyle/>
          <a:p>
            <a:pPr/>
          </a:p>
        </p:txBody>
      </p:sp>
      <p:sp>
        <p:nvSpPr>
          <p:cNvPr id="236" name="AutoShape 8"/>
          <p:cNvSpPr/>
          <p:nvPr/>
        </p:nvSpPr>
        <p:spPr>
          <a:xfrm>
            <a:off x="-3223253" y="5095875"/>
            <a:ext cx="6492241" cy="0"/>
          </a:xfrm>
          <a:prstGeom prst="line">
            <a:avLst/>
          </a:prstGeom>
          <a:ln w="95250">
            <a:solidFill>
              <a:srgbClr val="F67BDC"/>
            </a:solidFill>
          </a:ln>
        </p:spPr>
        <p:txBody>
          <a:bodyPr lIns="45719" rIns="45719"/>
          <a:lstStyle/>
          <a:p>
            <a:pPr/>
          </a:p>
        </p:txBody>
      </p:sp>
      <p:sp>
        <p:nvSpPr>
          <p:cNvPr id="237" name="Freeform 10"/>
          <p:cNvSpPr/>
          <p:nvPr/>
        </p:nvSpPr>
        <p:spPr>
          <a:xfrm>
            <a:off x="3268987" y="-731513"/>
            <a:ext cx="11750027" cy="11750027"/>
          </a:xfrm>
          <a:prstGeom prst="ellipse">
            <a:avLst/>
          </a:prstGeom>
          <a:ln w="95250" cap="sq">
            <a:solidFill>
              <a:srgbClr val="F67BDC"/>
            </a:solidFill>
            <a:miter/>
          </a:ln>
        </p:spPr>
        <p:txBody>
          <a:bodyPr lIns="45719" rIns="45719"/>
          <a:lstStyle/>
          <a:p>
            <a:pPr/>
          </a:p>
        </p:txBody>
      </p:sp>
      <p:sp>
        <p:nvSpPr>
          <p:cNvPr id="238" name="AutoShape 12"/>
          <p:cNvSpPr/>
          <p:nvPr/>
        </p:nvSpPr>
        <p:spPr>
          <a:xfrm flipH="1" flipV="1">
            <a:off x="-4129105" y="5579821"/>
            <a:ext cx="6492241" cy="1"/>
          </a:xfrm>
          <a:prstGeom prst="line">
            <a:avLst/>
          </a:prstGeom>
          <a:ln w="95250">
            <a:solidFill>
              <a:srgbClr val="73C2E7"/>
            </a:solidFill>
          </a:ln>
        </p:spPr>
        <p:txBody>
          <a:bodyPr lIns="45719" rIns="45719"/>
          <a:lstStyle/>
          <a:p>
            <a:pPr/>
          </a:p>
        </p:txBody>
      </p:sp>
      <p:sp>
        <p:nvSpPr>
          <p:cNvPr id="239" name="AutoShape 13"/>
          <p:cNvSpPr/>
          <p:nvPr/>
        </p:nvSpPr>
        <p:spPr>
          <a:xfrm flipH="1" flipV="1">
            <a:off x="-4903184" y="6067185"/>
            <a:ext cx="6492241" cy="1"/>
          </a:xfrm>
          <a:prstGeom prst="line">
            <a:avLst/>
          </a:prstGeom>
          <a:ln w="95250">
            <a:solidFill>
              <a:srgbClr val="95ABF8"/>
            </a:solidFill>
          </a:ln>
        </p:spPr>
        <p:txBody>
          <a:bodyPr lIns="45719" rIns="45719"/>
          <a:lstStyle/>
          <a:p>
            <a:pPr/>
          </a:p>
        </p:txBody>
      </p:sp>
      <p:sp>
        <p:nvSpPr>
          <p:cNvPr id="240" name="AutoShape 14"/>
          <p:cNvSpPr/>
          <p:nvPr/>
        </p:nvSpPr>
        <p:spPr>
          <a:xfrm>
            <a:off x="15019011" y="5048250"/>
            <a:ext cx="6492241" cy="0"/>
          </a:xfrm>
          <a:prstGeom prst="line">
            <a:avLst/>
          </a:prstGeom>
          <a:ln w="95250">
            <a:solidFill>
              <a:srgbClr val="F67BDC"/>
            </a:solidFill>
          </a:ln>
        </p:spPr>
        <p:txBody>
          <a:bodyPr lIns="45719" rIns="45719"/>
          <a:lstStyle/>
          <a:p>
            <a:pPr/>
          </a:p>
        </p:txBody>
      </p:sp>
      <p:sp>
        <p:nvSpPr>
          <p:cNvPr id="241" name="AutoShape 15"/>
          <p:cNvSpPr/>
          <p:nvPr/>
        </p:nvSpPr>
        <p:spPr>
          <a:xfrm flipH="1" flipV="1">
            <a:off x="15905815" y="5532196"/>
            <a:ext cx="6492241" cy="1"/>
          </a:xfrm>
          <a:prstGeom prst="line">
            <a:avLst/>
          </a:prstGeom>
          <a:ln w="95250">
            <a:solidFill>
              <a:srgbClr val="73C2E7"/>
            </a:solidFill>
          </a:ln>
        </p:spPr>
        <p:txBody>
          <a:bodyPr lIns="45719" rIns="45719"/>
          <a:lstStyle/>
          <a:p>
            <a:pPr/>
          </a:p>
        </p:txBody>
      </p:sp>
      <p:sp>
        <p:nvSpPr>
          <p:cNvPr id="242" name="AutoShape 16"/>
          <p:cNvSpPr/>
          <p:nvPr/>
        </p:nvSpPr>
        <p:spPr>
          <a:xfrm flipH="1" flipV="1">
            <a:off x="16670368" y="6114810"/>
            <a:ext cx="6492241" cy="1"/>
          </a:xfrm>
          <a:prstGeom prst="line">
            <a:avLst/>
          </a:prstGeom>
          <a:ln w="95250">
            <a:solidFill>
              <a:srgbClr val="95ABF8"/>
            </a:solidFill>
          </a:ln>
        </p:spPr>
        <p:txBody>
          <a:bodyPr lIns="45719" rIns="45719"/>
          <a:lstStyle/>
          <a:p>
            <a:pPr/>
          </a:p>
        </p:txBody>
      </p:sp>
      <p:sp>
        <p:nvSpPr>
          <p:cNvPr id="243" name="Freeform 17"/>
          <p:cNvSpPr/>
          <p:nvPr/>
        </p:nvSpPr>
        <p:spPr>
          <a:xfrm>
            <a:off x="4731980" y="4087569"/>
            <a:ext cx="1492252" cy="1492253"/>
          </a:xfrm>
          <a:prstGeom prst="rect">
            <a:avLst/>
          </a:prstGeom>
          <a:blipFill>
            <a:blip r:embed="rId2"/>
            <a:stretch>
              <a:fillRect/>
            </a:stretch>
          </a:blipFill>
          <a:ln w="12700">
            <a:miter lim="400000"/>
          </a:ln>
        </p:spPr>
        <p:txBody>
          <a:bodyPr lIns="45719" rIns="45719"/>
          <a:lstStyle/>
          <a:p>
            <a:pPr/>
          </a:p>
        </p:txBody>
      </p:sp>
      <p:sp>
        <p:nvSpPr>
          <p:cNvPr id="244" name="TextBox 18"/>
          <p:cNvSpPr txBox="1"/>
          <p:nvPr/>
        </p:nvSpPr>
        <p:spPr>
          <a:xfrm>
            <a:off x="5085927" y="1604079"/>
            <a:ext cx="8116146" cy="155102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1500"/>
              </a:lnSpc>
              <a:defRPr b="1" spc="-826" sz="13100">
                <a:solidFill>
                  <a:srgbClr val="FFFFFF"/>
                </a:solidFill>
                <a:latin typeface="Arial Unicode Bold"/>
                <a:ea typeface="Arial Unicode Bold"/>
                <a:cs typeface="Arial Unicode Bold"/>
                <a:sym typeface="Arial Unicode Bold"/>
              </a:defRPr>
            </a:lvl1pPr>
          </a:lstStyle>
          <a:p>
            <a:pPr/>
            <a:r>
              <a:t>Thank You</a:t>
            </a:r>
          </a:p>
        </p:txBody>
      </p:sp>
      <p:sp>
        <p:nvSpPr>
          <p:cNvPr id="245" name="Freeform 19"/>
          <p:cNvSpPr/>
          <p:nvPr/>
        </p:nvSpPr>
        <p:spPr>
          <a:xfrm>
            <a:off x="12063769" y="4039944"/>
            <a:ext cx="1492252" cy="1492253"/>
          </a:xfrm>
          <a:prstGeom prst="rect">
            <a:avLst/>
          </a:prstGeom>
          <a:blipFill>
            <a:blip r:embed="rId2"/>
            <a:stretch>
              <a:fillRect/>
            </a:stretch>
          </a:blipFill>
          <a:ln w="12700">
            <a:miter lim="400000"/>
          </a:ln>
        </p:spPr>
        <p:txBody>
          <a:bodyPr lIns="45719" rIns="45719"/>
          <a:lstStyle/>
          <a:p>
            <a:pPr/>
          </a:p>
        </p:txBody>
      </p:sp>
    </p:spTree>
  </p:cSld>
  <p:clrMapOvr>
    <a:masterClrMapping/>
  </p:clrMapOvr>
  <mc:AlternateContent xmlns:mc="http://schemas.openxmlformats.org/markup-compatibility/2006">
    <mc:Choice xmlns:p14="http://schemas.microsoft.com/office/powerpoint/2010/main" Requires="p14">
      <p:transition spd="fast" advClick="1" p14:dur="500">
        <p:push dir="l"/>
      </p:transition>
    </mc:Choice>
    <mc:Fallback>
      <p:transition spd="fast">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